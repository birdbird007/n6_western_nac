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9" autoAdjust="0"/>
    <p:restoredTop sz="94597"/>
  </p:normalViewPr>
  <p:slideViewPr>
    <p:cSldViewPr snapToGrid="0">
      <p:cViewPr varScale="1">
        <p:scale>
          <a:sx n="107" d="100"/>
          <a:sy n="107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24102-299F-4E7C-B50B-4E322F6DACE5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F65B2A-DC16-48EC-8C77-F0ED26B53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74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45836-571D-CA62-28FF-E3C022EF2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36AE05-54B8-8858-EF4A-E82C16EDA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37FE1-EF8D-2614-FB09-E6EF8653B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748E5-C4F1-AC06-32AA-8973F4BC4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54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8688-B1E7-B2C9-90EF-1818C10D8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DB4D4-51D9-57BA-8AD7-9C5F0CF03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794C9-126E-6CAB-E906-4B99EDF4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0D12-CB6E-4725-9413-54640417F54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68658-26E3-8CCA-BF09-1C1C08657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76444-BB38-F83C-1509-D209724E4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4CBF-A89F-4078-9DED-6BF194350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7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CE5B8-1B7C-23D7-B6FC-2B85EEA8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75E8B-9B37-0FCC-FE43-C12114213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91FB9-45B5-8CCE-3C83-DB3641307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0D12-CB6E-4725-9413-54640417F54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FCC9D-E247-94A4-DE6C-3548C406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74506-CEA0-9D30-FB6D-7B166016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4CBF-A89F-4078-9DED-6BF194350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66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EA8AE-3A7A-D546-E851-18826331F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E383C-A3B2-7879-DF46-00FB444D8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A3963-D1E0-13B9-FBD6-82A9531B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0D12-CB6E-4725-9413-54640417F54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741A2-C07B-0E8C-8890-8F10787D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180BA-5FEB-BCB1-56AE-D05F8957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4CBF-A89F-4078-9DED-6BF194350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20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FA401-4AFE-0A8D-7F0E-ECE4267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08D0C-E134-1592-2D3E-FCA080A94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8BA59-1DDF-D921-AEB9-D9A61EFA8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D2F5E-AC69-E06A-D3F5-8277E711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0D12-CB6E-4725-9413-54640417F54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59B19-02BD-2796-2F52-1AC3D02A5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6AF3F-2D59-4807-8A11-E3C597CCF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4CBF-A89F-4078-9DED-6BF194350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74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B082-37C4-6E80-1E7A-C8A6DA4FF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2B8D1-DB6C-A4C6-80B2-14A8BC4B0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2B5D3-E2A8-9A15-2DE4-167B4AFCF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8DA84-4686-38B6-089C-2D59F360D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F16079-21BB-A371-14D0-B01E0790D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181D52-411E-80C5-F717-926F240E9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0D12-CB6E-4725-9413-54640417F54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FC2AF-EC62-8494-A1B0-2D80F038F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6BD07E-E397-BBB9-F4D7-8CDD538C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4CBF-A89F-4078-9DED-6BF194350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9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14306-C003-4F37-0EF8-B33D8668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31562F-B868-8865-90F7-B579ED5B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0D12-CB6E-4725-9413-54640417F54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89113-6A89-314C-49C9-6410D1747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EE83C-B330-2402-E13F-26D730AC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4CBF-A89F-4078-9DED-6BF194350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98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3F24A2-4B59-C82F-F467-97C8ACEC1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0D12-CB6E-4725-9413-54640417F54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AE9BE6-F5DE-5704-97C1-476B48761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DA954-A6E4-009B-FB96-B3E4CFDE1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4CBF-A89F-4078-9DED-6BF194350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82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540F-9E78-5EA9-4356-568A642F4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B4C5C-D7E7-F867-C77E-0C349CDF7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FA7AA-9733-CEAC-44B5-8D30A5CA0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59264-E59F-6056-74C8-7AE46C07F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0D12-CB6E-4725-9413-54640417F54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13CB3-989F-1149-E36A-8B29B1FD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4EA26-52F1-5C52-7CDC-0FE27B16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4CBF-A89F-4078-9DED-6BF194350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2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59B1-BB7D-F291-5C02-0B2F3C30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883452-28CD-4008-709A-AD76EC9A0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984E1-3651-EC2D-6CF4-EE3F152E3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C23DF-676B-A813-1FCC-3456B2917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0D12-CB6E-4725-9413-54640417F54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E27B8-783F-0F3B-E6BE-09C815E5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F7AC6-1306-554C-0999-E2184EE0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4CBF-A89F-4078-9DED-6BF194350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05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63DFE-3092-4F68-0026-EC7AE9A34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A44A3-D675-8AF2-A65F-6BD258028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3F9DA-1446-A834-1D9B-D7EA2DF3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0D12-CB6E-4725-9413-54640417F54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34C40-B723-81CB-93DB-DBA8B1059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85FCB-327C-A1B8-5ED2-E2323824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4CBF-A89F-4078-9DED-6BF194350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8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C98581-F2E9-688F-91AD-CE258DA42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952E5-5CF7-2838-A6BD-35F94EA6B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DE23E-0B37-0321-1844-318A5C31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0D12-CB6E-4725-9413-54640417F54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93D6C-F069-9408-A205-7DE8813B7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B9B15-BEEE-1475-9991-3313B33A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F4CBF-A89F-4078-9DED-6BF194350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23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586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DA62CC-238A-5554-D791-5350F69A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3893A-4906-1D7A-BAE5-658B51F32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E1B70-367F-41B2-1452-5E9B60B0F7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B0D12-CB6E-4725-9413-54640417F54E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D6B6E-C141-C558-0ECF-4E07C9BE2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38E46-9B38-CA7C-35F5-BBEE91195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F4CBF-A89F-4078-9DED-6BF194350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2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ACD60-EE2F-27CD-1A86-F4FC4FC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490E256-1EDA-D309-0DE7-46A2F3B33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27800"/>
            <a:ext cx="12192000" cy="330200"/>
          </a:xfrm>
          <a:prstGeom prst="rect">
            <a:avLst/>
          </a:prstGeom>
        </p:spPr>
      </p:pic>
      <p:pic>
        <p:nvPicPr>
          <p:cNvPr id="109" name="Image 55" descr="preencoded.png">
            <a:extLst>
              <a:ext uri="{FF2B5EF4-FFF2-40B4-BE49-F238E27FC236}">
                <a16:creationId xmlns:a16="http://schemas.microsoft.com/office/drawing/2014/main" id="{2568D907-5884-4B27-FD23-A869BDEFA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15949"/>
          </a:xfrm>
          <a:prstGeom prst="rect">
            <a:avLst/>
          </a:prstGeom>
          <a:ln>
            <a:noFill/>
          </a:ln>
        </p:spPr>
      </p:pic>
      <p:sp>
        <p:nvSpPr>
          <p:cNvPr id="110" name="Shape 52">
            <a:extLst>
              <a:ext uri="{FF2B5EF4-FFF2-40B4-BE49-F238E27FC236}">
                <a16:creationId xmlns:a16="http://schemas.microsoft.com/office/drawing/2014/main" id="{4BFD65B4-31FB-32C9-7137-845CFD8C4587}"/>
              </a:ext>
            </a:extLst>
          </p:cNvPr>
          <p:cNvSpPr/>
          <p:nvPr/>
        </p:nvSpPr>
        <p:spPr>
          <a:xfrm>
            <a:off x="0" y="566276"/>
            <a:ext cx="11423651" cy="12700"/>
          </a:xfrm>
          <a:prstGeom prst="rect">
            <a:avLst/>
          </a:prstGeom>
          <a:solidFill>
            <a:srgbClr val="081333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112" name="Image 57" descr="preencoded.png">
            <a:extLst>
              <a:ext uri="{FF2B5EF4-FFF2-40B4-BE49-F238E27FC236}">
                <a16:creationId xmlns:a16="http://schemas.microsoft.com/office/drawing/2014/main" id="{2F9D6C45-BF26-895B-E483-0385D3588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403600" cy="565149"/>
          </a:xfrm>
          <a:prstGeom prst="rect">
            <a:avLst/>
          </a:prstGeom>
        </p:spPr>
      </p:pic>
      <p:sp>
        <p:nvSpPr>
          <p:cNvPr id="114" name="Text 53">
            <a:extLst>
              <a:ext uri="{FF2B5EF4-FFF2-40B4-BE49-F238E27FC236}">
                <a16:creationId xmlns:a16="http://schemas.microsoft.com/office/drawing/2014/main" id="{54F1DEEC-4A41-6033-2428-D1C25D390D51}"/>
              </a:ext>
            </a:extLst>
          </p:cNvPr>
          <p:cNvSpPr/>
          <p:nvPr/>
        </p:nvSpPr>
        <p:spPr>
          <a:xfrm>
            <a:off x="4743511" y="64133"/>
            <a:ext cx="5238751" cy="50165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th-TH" sz="4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หัวข้อข่าวสารสำคัญที่ผู้บังคับบัญชาต้องการ</a:t>
            </a:r>
            <a:endParaRPr lang="en-US" sz="40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0" name="Shape 28">
            <a:extLst>
              <a:ext uri="{FF2B5EF4-FFF2-40B4-BE49-F238E27FC236}">
                <a16:creationId xmlns:a16="http://schemas.microsoft.com/office/drawing/2014/main" id="{0E780FF1-D80F-6D6E-36AC-10DC8B6903DF}"/>
              </a:ext>
            </a:extLst>
          </p:cNvPr>
          <p:cNvSpPr/>
          <p:nvPr/>
        </p:nvSpPr>
        <p:spPr>
          <a:xfrm>
            <a:off x="-2" y="559434"/>
            <a:ext cx="11423651" cy="12700"/>
          </a:xfrm>
          <a:prstGeom prst="rect">
            <a:avLst/>
          </a:prstGeom>
          <a:solidFill>
            <a:srgbClr val="091434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กล่องข้อความ 11">
            <a:extLst>
              <a:ext uri="{FF2B5EF4-FFF2-40B4-BE49-F238E27FC236}">
                <a16:creationId xmlns:a16="http://schemas.microsoft.com/office/drawing/2014/main" id="{D8DA4B36-DA88-4A38-C16C-0158019D5F2A}"/>
              </a:ext>
            </a:extLst>
          </p:cNvPr>
          <p:cNvSpPr txBox="1"/>
          <p:nvPr/>
        </p:nvSpPr>
        <p:spPr>
          <a:xfrm>
            <a:off x="85213" y="6530677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NCSC 86</a:t>
            </a:r>
          </a:p>
        </p:txBody>
      </p:sp>
      <p:sp>
        <p:nvSpPr>
          <p:cNvPr id="6" name="กล่องข้อความ 16">
            <a:extLst>
              <a:ext uri="{FF2B5EF4-FFF2-40B4-BE49-F238E27FC236}">
                <a16:creationId xmlns:a16="http://schemas.microsoft.com/office/drawing/2014/main" id="{BA31A769-6F2A-B1B4-7366-9D8AB85D0EDB}"/>
              </a:ext>
            </a:extLst>
          </p:cNvPr>
          <p:cNvSpPr txBox="1"/>
          <p:nvPr/>
        </p:nvSpPr>
        <p:spPr>
          <a:xfrm>
            <a:off x="11429844" y="651754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h-TH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หน้า</a:t>
            </a:r>
            <a:endParaRPr lang="en-US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กล่องข้อความ 11">
            <a:extLst>
              <a:ext uri="{FF2B5EF4-FFF2-40B4-BE49-F238E27FC236}">
                <a16:creationId xmlns:a16="http://schemas.microsoft.com/office/drawing/2014/main" id="{8154D6A8-9149-93C6-F4C9-AF4EE6133B9D}"/>
              </a:ext>
            </a:extLst>
          </p:cNvPr>
          <p:cNvSpPr txBox="1"/>
          <p:nvPr/>
        </p:nvSpPr>
        <p:spPr>
          <a:xfrm>
            <a:off x="5829741" y="653354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AZ 2</a:t>
            </a:r>
          </a:p>
        </p:txBody>
      </p:sp>
      <p:sp>
        <p:nvSpPr>
          <p:cNvPr id="18" name="ตัวแทนหมายเลขสไลด์ 10">
            <a:extLst>
              <a:ext uri="{FF2B5EF4-FFF2-40B4-BE49-F238E27FC236}">
                <a16:creationId xmlns:a16="http://schemas.microsoft.com/office/drawing/2014/main" id="{3B35AB57-BB80-BDDD-BB03-B5D8A2F654E3}"/>
              </a:ext>
            </a:extLst>
          </p:cNvPr>
          <p:cNvSpPr txBox="1">
            <a:spLocks/>
          </p:cNvSpPr>
          <p:nvPr/>
        </p:nvSpPr>
        <p:spPr>
          <a:xfrm>
            <a:off x="11855197" y="6504439"/>
            <a:ext cx="378648" cy="39547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150248-E281-4066-99DD-DC5D5BCD1BC6}" type="slidenum">
              <a:rPr lang="en-US" b="1" smtClean="0">
                <a:solidFill>
                  <a:srgbClr val="FFC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pPr/>
              <a:t>1</a:t>
            </a:fld>
            <a:endParaRPr lang="en-US" sz="1050" b="1" dirty="0">
              <a:solidFill>
                <a:srgbClr val="FFC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E52EA4-EA54-4B69-0F1C-C7FAF48615FC}"/>
              </a:ext>
            </a:extLst>
          </p:cNvPr>
          <p:cNvGrpSpPr/>
          <p:nvPr/>
        </p:nvGrpSpPr>
        <p:grpSpPr>
          <a:xfrm>
            <a:off x="11410062" y="30367"/>
            <a:ext cx="745637" cy="595839"/>
            <a:chOff x="11401516" y="20110"/>
            <a:chExt cx="767770" cy="595839"/>
          </a:xfrm>
        </p:grpSpPr>
        <p:pic>
          <p:nvPicPr>
            <p:cNvPr id="22" name="Image 3" descr="preencoded.png">
              <a:extLst>
                <a:ext uri="{FF2B5EF4-FFF2-40B4-BE49-F238E27FC236}">
                  <a16:creationId xmlns:a16="http://schemas.microsoft.com/office/drawing/2014/main" id="{4807A6A7-49F5-79E7-C3FB-BBF221B21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401516" y="20110"/>
              <a:ext cx="767770" cy="595839"/>
            </a:xfrm>
            <a:prstGeom prst="rect">
              <a:avLst/>
            </a:prstGeom>
          </p:spPr>
        </p:pic>
        <p:pic>
          <p:nvPicPr>
            <p:cNvPr id="31" name="Image 4" descr="preencoded.png">
              <a:extLst>
                <a:ext uri="{FF2B5EF4-FFF2-40B4-BE49-F238E27FC236}">
                  <a16:creationId xmlns:a16="http://schemas.microsoft.com/office/drawing/2014/main" id="{F91DA08B-3C2E-3E1C-17D9-EF499AC2C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12011" y="222610"/>
              <a:ext cx="147853" cy="142488"/>
            </a:xfrm>
            <a:prstGeom prst="rect">
              <a:avLst/>
            </a:prstGeom>
          </p:spPr>
        </p:pic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BD21B0CA-1BA7-17BD-4E8C-A6B5287333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" y="0"/>
            <a:ext cx="575156" cy="575156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817FED-F3C9-EA12-0FB3-C89148778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40243"/>
              </p:ext>
            </p:extLst>
          </p:nvPr>
        </p:nvGraphicFramePr>
        <p:xfrm>
          <a:off x="6036922" y="1294625"/>
          <a:ext cx="5688163" cy="517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8163">
                  <a:extLst>
                    <a:ext uri="{9D8B030D-6E8A-4147-A177-3AD203B41FA5}">
                      <a16:colId xmlns:a16="http://schemas.microsoft.com/office/drawing/2014/main" val="717984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FFIR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487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H" sz="1800" b="0" i="0" kern="120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ฝ่ายปฏิบัติการข่าวสาร (N7) มีความพร้อมทั้งด้านยุทโธปกรณ์และข้อมูลเป้าหมาย (Targeting) เพียงพอที่จะเข้าตัดรอนระบบ C2 และโครงสร้างพื้นฐานของข้าศึก หรือไม่?</a:t>
                      </a:r>
                      <a:endParaRPr lang="en-US" i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72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184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17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53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505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251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512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275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41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907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7171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96459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1B2D8E-5262-4C1A-1F56-DC72DBE36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619283"/>
              </p:ext>
            </p:extLst>
          </p:nvPr>
        </p:nvGraphicFramePr>
        <p:xfrm>
          <a:off x="348759" y="1294625"/>
          <a:ext cx="5688163" cy="5466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88163">
                  <a:extLst>
                    <a:ext uri="{9D8B030D-6E8A-4147-A177-3AD203B41FA5}">
                      <a16:colId xmlns:a16="http://schemas.microsoft.com/office/drawing/2014/main" val="717984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487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ประเทศ 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EDR </a:t>
                      </a:r>
                      <a:r>
                        <a:rPr lang="th-TH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มีท่าทีอย่างไรในห้วงนี้</a:t>
                      </a:r>
                      <a:endParaRPr lang="en-US" sz="200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72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ข้อมูลสมุทรศาสตร์ในพื้นที่ปฏิบัติการ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184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แนวทางการปฏิบัติ และความเคลื่อนไหว ของกลุ่มก่อความไม่สงบ 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PPTT </a:t>
                      </a:r>
                      <a:r>
                        <a:rPr lang="th-TH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Bersat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บนเกาะ 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17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บนเกาะ 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 </a:t>
                      </a:r>
                      <a:r>
                        <a:rPr lang="th-TH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มีสนามจอด </a:t>
                      </a:r>
                      <a:r>
                        <a:rPr lang="th-TH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ฮ</a:t>
                      </a:r>
                      <a:r>
                        <a:rPr lang="th-TH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. ขนาดใหญ่หรือไม่ กี่ที่ และพิกัด ณ จุดใด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53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ข้อมูลเพิ่มเติมของชายหาดในฝั่งเหนือของท่าเรือ </a:t>
                      </a:r>
                      <a:r>
                        <a:rPr lang="en-US" sz="2000" dirty="0" err="1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Georgopol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  <a:r>
                        <a:rPr lang="th-TH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และทางทิศตะวันตกของเมืองหลวงฝั่ง 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WL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3505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จำนวน และพิกัดของแท่นขุดเจาะในบริเวณทางเหนือของ เกาะ </a:t>
                      </a:r>
                      <a:r>
                        <a:rPr lang="en-US" sz="2000" dirty="0"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Talos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251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1800" b="0" i="0" kern="120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การ</a:t>
                      </a:r>
                      <a:r>
                        <a:rPr lang="en-TH" sz="1800" b="0" i="0" kern="120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สร้างความชอบธรรม (Fait Accompli) และปฏิบัติการจิตวิทยาของ WL ประสบความสำเร็จจนถึงขั้นที่นานาชาติจะแทรกแซง หรือ</a:t>
                      </a:r>
                      <a:r>
                        <a:rPr lang="th-TH" sz="1800" b="0" i="0" kern="120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ไม่</a:t>
                      </a:r>
                      <a:endParaRPr lang="en-US" i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306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TH" sz="1800" b="0" i="0" kern="120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ข้าศึก (WL) มีขีดความสามารถทางไซเบอร์และสงครามอิเล็กทรอนิกส์ ที่รุนแรงพอจะทำให้ระบบควบคุมบังคับบัญชา (DEFNET) </a:t>
                      </a:r>
                      <a:r>
                        <a:rPr lang="th-TH" sz="1800" b="0" i="0" kern="120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ของ </a:t>
                      </a:r>
                      <a:r>
                        <a:rPr lang="en-TH" sz="1800" b="0" i="0" kern="1200">
                          <a:solidFill>
                            <a:schemeClr val="dk1"/>
                          </a:solidFill>
                          <a:effectLst/>
                          <a:latin typeface="TH SarabunPSK" panose="020B0500040200020003" pitchFamily="34" charset="-34"/>
                          <a:ea typeface="+mn-ea"/>
                          <a:cs typeface="TH SarabunPSK" panose="020B0500040200020003" pitchFamily="34" charset="-34"/>
                        </a:rPr>
                        <a:t>AZ เป็นจนไม่สามารถปฏิบัติภารกิจได้ หรือไม่?</a:t>
                      </a:r>
                      <a:endParaRPr lang="en-US" i="0" dirty="0"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065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9141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141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4F383CB-C86D-D86A-1ACC-17C55D2E564C}"/>
              </a:ext>
            </a:extLst>
          </p:cNvPr>
          <p:cNvSpPr txBox="1"/>
          <p:nvPr/>
        </p:nvSpPr>
        <p:spPr>
          <a:xfrm>
            <a:off x="348760" y="819729"/>
            <a:ext cx="11376326" cy="461665"/>
          </a:xfrm>
          <a:prstGeom prst="rect">
            <a:avLst/>
          </a:prstGeom>
          <a:solidFill>
            <a:srgbClr val="7030A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CCIR</a:t>
            </a:r>
          </a:p>
        </p:txBody>
      </p:sp>
      <p:sp>
        <p:nvSpPr>
          <p:cNvPr id="10" name="กล่องข้อความ 20">
            <a:extLst>
              <a:ext uri="{FF2B5EF4-FFF2-40B4-BE49-F238E27FC236}">
                <a16:creationId xmlns:a16="http://schemas.microsoft.com/office/drawing/2014/main" id="{130393C9-D5EF-7291-E6E6-893DAD2C74DD}"/>
              </a:ext>
            </a:extLst>
          </p:cNvPr>
          <p:cNvSpPr txBox="1"/>
          <p:nvPr/>
        </p:nvSpPr>
        <p:spPr>
          <a:xfrm>
            <a:off x="583438" y="271507"/>
            <a:ext cx="2506776" cy="413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900"/>
              </a:lnSpc>
            </a:pPr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H SarabunPSK" panose="020B0500040200020003" pitchFamily="34" charset="-34"/>
                <a:cs typeface="TH SarabunPSK" panose="020B0500040200020003" pitchFamily="34" charset="-34"/>
              </a:rPr>
              <a:t>ALIZARIA NAVY </a:t>
            </a:r>
            <a:endParaRPr lang="th-TH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57597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1335</TotalTime>
  <Words>191</Words>
  <Application>Microsoft Macintosh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TH SarabunPSK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21 นภเมธิ์ พ.</dc:creator>
  <cp:lastModifiedBy>28.ภัทรภณ เอี่ยมพานิชกุล</cp:lastModifiedBy>
  <cp:revision>13</cp:revision>
  <dcterms:created xsi:type="dcterms:W3CDTF">2026-06-19T15:37:53Z</dcterms:created>
  <dcterms:modified xsi:type="dcterms:W3CDTF">2026-06-22T03:19:05Z</dcterms:modified>
</cp:coreProperties>
</file>