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5" r:id="rId2"/>
    <p:sldId id="287" r:id="rId3"/>
    <p:sldId id="264" r:id="rId4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56"/>
    <p:restoredTop sz="94665"/>
  </p:normalViewPr>
  <p:slideViewPr>
    <p:cSldViewPr snapToGrid="0">
      <p:cViewPr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85221-F9CD-6044-B4B0-EC27310C71F8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BD45F-D2CF-7248-A054-91E6E2672816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4352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5D6F-167B-E1B5-C89F-E5FE6D967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0F8C4-60EB-9025-0CD5-01749EDD1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35E5B-DCDC-21EF-E9F1-8B7376A0E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1775" indent="-231775"/>
            <a:r>
              <a:rPr lang="th-TH" sz="1200" b="1" u="sng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กองทัพ </a:t>
            </a:r>
            <a:r>
              <a:rPr lang="en-US" sz="1200" b="1" u="sng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AZ </a:t>
            </a:r>
            <a:r>
              <a:rPr lang="th-TH" sz="1200" b="1" u="sng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มีเครือข่ายคอมพิวเตอร์เข้ารหัสของตนเอง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สำหรับงานด้านยุทธการ ชื่อว่า </a:t>
            </a:r>
            <a:r>
              <a:rPr lang="en-US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DEFNET 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โดยมี </a:t>
            </a:r>
            <a:r>
              <a:rPr lang="en-US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redundant server and storage </a:t>
            </a:r>
            <a:r>
              <a:rPr lang="th-TH" sz="1200" b="1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กระจายอยู่ทั่วประเทศ </a:t>
            </a:r>
            <a:r>
              <a:rPr lang="en-US" sz="1200" dirty="0" err="1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ใช้บริการอินเทอร์เน็ตของบริษัท</a:t>
            </a:r>
            <a:r>
              <a:rPr lang="en-US" sz="1200" dirty="0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AAIS (</a:t>
            </a:r>
            <a:r>
              <a:rPr lang="en-US" sz="1200" dirty="0" err="1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Alizarian</a:t>
            </a:r>
            <a:r>
              <a:rPr lang="en-US" sz="1200" dirty="0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Advance Information Service)</a:t>
            </a:r>
            <a:endParaRPr lang="th-TH" sz="1200" b="1" dirty="0"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231775" lvl="0" indent="-2317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th-TH" sz="1200" b="1" u="sng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ระบบดาวเทียมนำทาง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ในการทหารหลักของกองทัพ </a:t>
            </a:r>
            <a:r>
              <a:rPr lang="en-US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AZ 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คือเครือข่าย </a:t>
            </a:r>
            <a:r>
              <a:rPr lang="en-US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GLS (Global Locating System) 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ที่ประเทศ </a:t>
            </a:r>
            <a:r>
              <a:rPr lang="en-US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Argus 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เป็นผู้พัฒนาและถูกใช้งานอย่างแพร่หลายทั่วโลก </a:t>
            </a:r>
          </a:p>
          <a:p>
            <a:pPr marL="231775" lvl="0" indent="-231775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ในช่วง ๑๐ ปีที่ผ่านมา มีความพยายามจากประเทศอื่น ๆ ในการจารกรรมข้อมูลในระบบของหน่วยงานราชการประเทศ </a:t>
            </a:r>
            <a:r>
              <a:rPr lang="en-US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AZ 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หลายครั้ง จากสถิติส่วนมากจะใช้วิธีเจาะการป้องกันด้วย </a:t>
            </a:r>
            <a:r>
              <a:rPr lang="en-US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DDOS 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ผ่าน </a:t>
            </a:r>
            <a:r>
              <a:rPr lang="en-US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VPN 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โดยเหตุใหญ่ที่สุดที่เกิดกับกองทัพเรือคือเมื่อปี ๒๐๒๒ ซึ่งข้อมูลส่วนบุคคลของกำลังพล </a:t>
            </a:r>
            <a:r>
              <a:rPr lang="th-TH" sz="1200" dirty="0" err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ทร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.</a:t>
            </a:r>
            <a:r>
              <a:rPr lang="en-US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AZ 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จำนวนมาก ถูกแฮ</a:t>
            </a:r>
            <a:r>
              <a:rPr lang="th-TH" sz="1200" dirty="0" err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็ก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ไปขายใน </a:t>
            </a:r>
            <a:r>
              <a:rPr lang="en-US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Dark web</a:t>
            </a:r>
          </a:p>
          <a:p>
            <a:r>
              <a:rPr lang="en-US" sz="1200" dirty="0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บริษัทที่ได้รับสัมปทานให้บริการโครงข่ายแก่ผู้ให้บริการอินเทอร์เน็ตทั่วประเทศ </a:t>
            </a:r>
            <a:r>
              <a:rPr lang="en-US" sz="1200" dirty="0" err="1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คือบริษัท</a:t>
            </a:r>
            <a:r>
              <a:rPr lang="en-US" sz="1200" dirty="0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ANT (</a:t>
            </a:r>
            <a:r>
              <a:rPr lang="en-US" sz="1200" dirty="0" err="1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Alizarian</a:t>
            </a:r>
            <a:r>
              <a:rPr lang="en-US" sz="1200" dirty="0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National Telecom)</a:t>
            </a:r>
            <a:endParaRPr lang="en-TH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E91B0-E318-181A-C1D0-4DB027B7E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11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7793-C975-986B-3401-259AF004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90198-C96E-73D6-7A3A-4E056D7F9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45377-03DE-D9E5-F2FC-B8A219B7F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จาก </a:t>
            </a:r>
            <a:r>
              <a:rPr lang="en-US"/>
              <a:t>Road to crisis </a:t>
            </a:r>
            <a:r>
              <a:rPr lang="th-TH"/>
              <a:t>จะเห็นได้ว่า ทางฝั่งของ </a:t>
            </a:r>
            <a:r>
              <a:rPr lang="en-US"/>
              <a:t>WAOD LAND  </a:t>
            </a:r>
            <a:r>
              <a:rPr lang="th-TH"/>
              <a:t>มีการใช้การปฏิบัติการด้านข้อมูลข่าวสาร อย่างต่อเนื่องเพื่อเรียกร้องความชอบธรรมจากนานาชาติ และ ปุกปั่นประชาชน รววมทั้งมีโจมตีทางไซเบอร์ต่อฌครงสร้างพื้นฐาน</a:t>
            </a:r>
          </a:p>
          <a:p>
            <a:r>
              <a:rPr lang="th-TH"/>
              <a:t>และการรบกวนทางอิเล็กทรอนิกส์ ต่อ ยุทโธปกรณ์ของ </a:t>
            </a:r>
            <a:r>
              <a:rPr lang="en-US"/>
              <a:t>AZ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4991B-679C-0A30-0242-D19FB85AE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43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B7B7-17CF-73C4-A8F9-F4BD829A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0DDFB-7038-A048-EF18-3FFC6C78C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C3AB3-0709-2015-BFA4-15E963386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b="0" i="1" dirty="0">
                <a:solidFill>
                  <a:srgbClr val="CCCCCC"/>
                </a:solidFill>
                <a:effectLst/>
                <a:latin typeface="ui-sans-serif"/>
              </a:rPr>
              <a:t>"สำหรับสถานภาพด้าน </a:t>
            </a:r>
            <a:r>
              <a:rPr lang="en-US" b="0" i="1">
                <a:solidFill>
                  <a:srgbClr val="CCCCCC"/>
                </a:solidFill>
                <a:effectLst/>
                <a:latin typeface="ui-sans-serif"/>
              </a:rPr>
              <a:t>IO </a:t>
            </a:r>
            <a:r>
              <a:rPr lang="th-TH" b="0" i="1">
                <a:solidFill>
                  <a:srgbClr val="CCCCCC"/>
                </a:solidFill>
                <a:effectLst/>
                <a:latin typeface="ui-sans-serif"/>
              </a:rPr>
              <a:t>ในระดับรัฐบาล มีความพร้อม ทางฝ่ายเสธฯด้านการปฏิบัติการข่าวสาร มีข้อเสนอแนะให้รัฐบาลรีบ ปฏิบัติการ </a:t>
            </a:r>
            <a:r>
              <a:rPr lang="en-US" b="0" i="1">
                <a:solidFill>
                  <a:srgbClr val="CCCCCC"/>
                </a:solidFill>
                <a:effectLst/>
                <a:latin typeface="ui-sans-serif"/>
              </a:rPr>
              <a:t>io </a:t>
            </a:r>
            <a:r>
              <a:rPr lang="th-TH" b="0" i="1">
                <a:solidFill>
                  <a:srgbClr val="CCCCCC"/>
                </a:solidFill>
                <a:effectLst/>
                <a:latin typeface="ui-sans-serif"/>
              </a:rPr>
              <a:t>เชิงรุกโดยเร็วที่สุดเพื่อตอบโต้ การะกระทำของฝ่าย </a:t>
            </a:r>
            <a:r>
              <a:rPr lang="en-US" b="0" i="1">
                <a:solidFill>
                  <a:srgbClr val="CCCCCC"/>
                </a:solidFill>
                <a:effectLst/>
                <a:latin typeface="ui-sans-serif"/>
              </a:rPr>
              <a:t>WL </a:t>
            </a:r>
            <a:r>
              <a:rPr lang="th-TH" b="0" i="1">
                <a:solidFill>
                  <a:srgbClr val="CCCCCC"/>
                </a:solidFill>
                <a:effectLst/>
                <a:latin typeface="ui-sans-serif"/>
              </a:rPr>
              <a:t>และ แสดงถึงความชอบธรรมในเวทีนานานชาติ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A0187-32A7-11A8-6108-7EB415F8B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69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C5DAE-3F09-0BC6-2177-6792971D7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8F943-3907-F0ED-2949-65F1BD964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AAB17-5E29-7754-8D75-174FE56FD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84DAE-E7DB-CACA-D892-700563A9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5D11A-B60A-329F-19F5-47B53F63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67248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5CBB-6B1A-94C6-12C3-02358973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19EC-7792-72D9-EAE5-ED9BEA086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69F9D-BD10-BCD5-B2D1-CFB5FAFDC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3EDF1-CF92-72D8-AA20-4C85A89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797F2-022E-E686-2ACA-77F976237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5409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3CD9-FBE2-E69F-A652-EF20B77C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79064-88F6-39B3-3CBA-F79D841E8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9407D-1615-9380-77CE-450274A33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EF7DC-766E-75D5-FC0B-A72CFE43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89F04-3E3A-BBC6-8D69-CB95A55A0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7537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A75FF-BC46-B796-3925-6261BB48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6B0D0-80CC-7D90-F8F2-5EC1EF732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3A508-BDC7-B2F6-200B-1AD72C90A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0BC31-72AB-7E60-F61A-24A7E487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30571-C856-94AE-C020-8B7C1236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59AAA-DF89-5BDA-6B30-E7635467D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80651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E1B3-D107-0DF1-A49F-DC2107BE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FC2BA-43E8-9B12-E87E-6F100A188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CF2E1-DEFD-6911-06E5-AC6CF9092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EC33A7-9FEC-05B7-3073-D654567FC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A03CC3-3048-AF9B-33DC-DAABC0AE3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82D4A-C874-5AA2-55A3-E4B48794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5D4F46-22F4-4906-680B-C5CDA2C0B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D08D29-92EA-199D-9FCE-7AFFC16F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8609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6665-3CFD-ED42-9875-65730229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429015-BF60-B221-13F8-9C99330B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DC9B2-7676-24D1-F5A4-65B927CC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67CDA-B203-5FB3-DA60-AEBA7D84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0943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1D547-C7A7-4192-D03B-A8048329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ABCD5-75CD-2CA8-E1C3-B341002B7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C5B13-223D-6201-BCD4-16001A05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1644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68E9-5D2A-3078-C570-DF4B361CD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E3646-F465-2B99-9CF4-9E38756B2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3B73D-6389-206F-A7FB-2FC9316C4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9A291-455A-DBA7-F2D2-45ED270CD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6EE22-0422-C86A-1C8A-24A54C7E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8B15D-4EC6-78AC-04D1-39394E6F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69966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C6DC-0C24-65F4-A6F3-6143B27D4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A5C512-D316-77A2-A4ED-2655152C4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612FC-4765-99E5-325C-EC0B9713B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74FE8-5C94-D1DE-2224-E72082A0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DC0-A507-04AE-8C8B-CDC4ED03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2C53F-F1C6-5289-DF56-6C94D5C0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9684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18DC-AE99-F594-3DC5-AD29358F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A7D52-F883-0E7F-0B31-63C5DAC40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85548-C724-09D4-276E-11A4E0713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C847A-98B7-B8CE-C3D1-28CAB5DCD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700B6-BC0A-FDF4-F51C-A55FFA19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12110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AC296A-C438-3150-7B8C-DC5D1FFDA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E00BA-7DDF-3545-7160-A6DDE1A31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350B5-D5B2-FA50-5E0F-471A486F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E19F4-3171-10B8-98AB-FBC5816E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173B7-1C88-7DD0-95EB-8EEAF2FC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32218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5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1E6FA4-5D69-BF9F-71E9-B20D00CA6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D8E1B-8109-E2BA-28DE-1B019981A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F9050-CFA2-47D7-34D1-E6A0FC1FA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DFCF1-F7F0-5682-181C-9F542DA59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4FD3A-9D93-2901-CC5E-E4C3F110A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288319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C1AC-38C1-E3C2-2BD8-B09E9F3AD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A8572D9-CB16-7DC6-98F4-B5387E288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800"/>
            <a:ext cx="12192000" cy="330200"/>
          </a:xfrm>
          <a:prstGeom prst="rect">
            <a:avLst/>
          </a:prstGeom>
        </p:spPr>
      </p:pic>
      <p:pic>
        <p:nvPicPr>
          <p:cNvPr id="109" name="Image 55" descr="preencoded.png">
            <a:extLst>
              <a:ext uri="{FF2B5EF4-FFF2-40B4-BE49-F238E27FC236}">
                <a16:creationId xmlns:a16="http://schemas.microsoft.com/office/drawing/2014/main" id="{EEA0BB24-FD8E-F29F-660F-171319492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15949"/>
          </a:xfrm>
          <a:prstGeom prst="rect">
            <a:avLst/>
          </a:prstGeom>
          <a:ln>
            <a:noFill/>
          </a:ln>
        </p:spPr>
      </p:pic>
      <p:sp>
        <p:nvSpPr>
          <p:cNvPr id="110" name="Shape 52">
            <a:extLst>
              <a:ext uri="{FF2B5EF4-FFF2-40B4-BE49-F238E27FC236}">
                <a16:creationId xmlns:a16="http://schemas.microsoft.com/office/drawing/2014/main" id="{1E0CBEEB-49E8-B9C7-F141-2A192A43323C}"/>
              </a:ext>
            </a:extLst>
          </p:cNvPr>
          <p:cNvSpPr/>
          <p:nvPr/>
        </p:nvSpPr>
        <p:spPr>
          <a:xfrm>
            <a:off x="0" y="566276"/>
            <a:ext cx="11423651" cy="12700"/>
          </a:xfrm>
          <a:prstGeom prst="rect">
            <a:avLst/>
          </a:prstGeom>
          <a:solidFill>
            <a:srgbClr val="081333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12" name="Image 57" descr="preencoded.png">
            <a:extLst>
              <a:ext uri="{FF2B5EF4-FFF2-40B4-BE49-F238E27FC236}">
                <a16:creationId xmlns:a16="http://schemas.microsoft.com/office/drawing/2014/main" id="{5DE88DC4-664E-77A2-0789-57892FF16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03600" cy="565149"/>
          </a:xfrm>
          <a:prstGeom prst="rect">
            <a:avLst/>
          </a:prstGeom>
        </p:spPr>
      </p:pic>
      <p:sp>
        <p:nvSpPr>
          <p:cNvPr id="114" name="Text 53">
            <a:extLst>
              <a:ext uri="{FF2B5EF4-FFF2-40B4-BE49-F238E27FC236}">
                <a16:creationId xmlns:a16="http://schemas.microsoft.com/office/drawing/2014/main" id="{E0274A05-2FD7-8BB1-2599-56657D106D41}"/>
              </a:ext>
            </a:extLst>
          </p:cNvPr>
          <p:cNvSpPr/>
          <p:nvPr/>
        </p:nvSpPr>
        <p:spPr>
          <a:xfrm>
            <a:off x="4743511" y="96783"/>
            <a:ext cx="5238751" cy="5016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th-TH" sz="4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ฝ่ายสื่อสารและไซเบอร์ </a:t>
            </a:r>
            <a:r>
              <a:rPr lang="en-US" sz="4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(N6)</a:t>
            </a:r>
          </a:p>
        </p:txBody>
      </p:sp>
      <p:sp>
        <p:nvSpPr>
          <p:cNvPr id="130" name="Shape 28">
            <a:extLst>
              <a:ext uri="{FF2B5EF4-FFF2-40B4-BE49-F238E27FC236}">
                <a16:creationId xmlns:a16="http://schemas.microsoft.com/office/drawing/2014/main" id="{59431521-F652-1939-E878-07131D83F3B6}"/>
              </a:ext>
            </a:extLst>
          </p:cNvPr>
          <p:cNvSpPr/>
          <p:nvPr/>
        </p:nvSpPr>
        <p:spPr>
          <a:xfrm>
            <a:off x="-2" y="559434"/>
            <a:ext cx="11423651" cy="12700"/>
          </a:xfrm>
          <a:prstGeom prst="rect">
            <a:avLst/>
          </a:prstGeom>
          <a:solidFill>
            <a:srgbClr val="09143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กล่องข้อความ 20">
            <a:extLst>
              <a:ext uri="{FF2B5EF4-FFF2-40B4-BE49-F238E27FC236}">
                <a16:creationId xmlns:a16="http://schemas.microsoft.com/office/drawing/2014/main" id="{DD27C07A-C673-C6F3-5F74-8D7AAF197DB4}"/>
              </a:ext>
            </a:extLst>
          </p:cNvPr>
          <p:cNvSpPr txBox="1"/>
          <p:nvPr/>
        </p:nvSpPr>
        <p:spPr>
          <a:xfrm>
            <a:off x="591720" y="237134"/>
            <a:ext cx="2506776" cy="413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900"/>
              </a:lnSpc>
            </a:pPr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ALIZARIA NAVY </a:t>
            </a:r>
            <a:endParaRPr lang="th-TH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กล่องข้อความ 11">
            <a:extLst>
              <a:ext uri="{FF2B5EF4-FFF2-40B4-BE49-F238E27FC236}">
                <a16:creationId xmlns:a16="http://schemas.microsoft.com/office/drawing/2014/main" id="{849B26A1-AB62-C081-97CC-7A670B7C309D}"/>
              </a:ext>
            </a:extLst>
          </p:cNvPr>
          <p:cNvSpPr txBox="1"/>
          <p:nvPr/>
        </p:nvSpPr>
        <p:spPr>
          <a:xfrm>
            <a:off x="85213" y="653067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NCSC 86</a:t>
            </a:r>
          </a:p>
        </p:txBody>
      </p:sp>
      <p:sp>
        <p:nvSpPr>
          <p:cNvPr id="6" name="กล่องข้อความ 16">
            <a:extLst>
              <a:ext uri="{FF2B5EF4-FFF2-40B4-BE49-F238E27FC236}">
                <a16:creationId xmlns:a16="http://schemas.microsoft.com/office/drawing/2014/main" id="{70550AAA-E586-52FB-A7B6-CD8AE874A452}"/>
              </a:ext>
            </a:extLst>
          </p:cNvPr>
          <p:cNvSpPr txBox="1"/>
          <p:nvPr/>
        </p:nvSpPr>
        <p:spPr>
          <a:xfrm>
            <a:off x="11429844" y="651754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หน้า</a:t>
            </a:r>
            <a:endParaRPr lang="en-US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กล่องข้อความ 11">
            <a:extLst>
              <a:ext uri="{FF2B5EF4-FFF2-40B4-BE49-F238E27FC236}">
                <a16:creationId xmlns:a16="http://schemas.microsoft.com/office/drawing/2014/main" id="{39A8AB9B-E3FF-6B68-C2A6-17CB4330B32C}"/>
              </a:ext>
            </a:extLst>
          </p:cNvPr>
          <p:cNvSpPr txBox="1"/>
          <p:nvPr/>
        </p:nvSpPr>
        <p:spPr>
          <a:xfrm>
            <a:off x="5829741" y="653354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AZ 2</a:t>
            </a:r>
          </a:p>
        </p:txBody>
      </p:sp>
      <p:sp>
        <p:nvSpPr>
          <p:cNvPr id="18" name="ตัวแทนหมายเลขสไลด์ 10">
            <a:extLst>
              <a:ext uri="{FF2B5EF4-FFF2-40B4-BE49-F238E27FC236}">
                <a16:creationId xmlns:a16="http://schemas.microsoft.com/office/drawing/2014/main" id="{F19F6E14-87D2-DD8B-8CF5-C4B65A48BF4B}"/>
              </a:ext>
            </a:extLst>
          </p:cNvPr>
          <p:cNvSpPr txBox="1">
            <a:spLocks/>
          </p:cNvSpPr>
          <p:nvPr/>
        </p:nvSpPr>
        <p:spPr>
          <a:xfrm>
            <a:off x="11853417" y="6527800"/>
            <a:ext cx="378712" cy="39547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150248-E281-4066-99DD-DC5D5BCD1BC6}" type="slidenum">
              <a:rPr lang="en-US" b="1" smtClean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pPr/>
              <a:t>1</a:t>
            </a:fld>
            <a:endParaRPr lang="en-US" sz="1050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5421DA0-8AB3-72DC-37F9-C111AE4EF7CF}"/>
              </a:ext>
            </a:extLst>
          </p:cNvPr>
          <p:cNvGrpSpPr/>
          <p:nvPr/>
        </p:nvGrpSpPr>
        <p:grpSpPr>
          <a:xfrm>
            <a:off x="11410062" y="30367"/>
            <a:ext cx="745637" cy="595839"/>
            <a:chOff x="11401516" y="20110"/>
            <a:chExt cx="767770" cy="595839"/>
          </a:xfrm>
        </p:grpSpPr>
        <p:pic>
          <p:nvPicPr>
            <p:cNvPr id="22" name="Image 3" descr="preencoded.png">
              <a:extLst>
                <a:ext uri="{FF2B5EF4-FFF2-40B4-BE49-F238E27FC236}">
                  <a16:creationId xmlns:a16="http://schemas.microsoft.com/office/drawing/2014/main" id="{0725B2EF-FE8F-ADB1-7210-27FD7F98B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401516" y="20110"/>
              <a:ext cx="767770" cy="595839"/>
            </a:xfrm>
            <a:prstGeom prst="rect">
              <a:avLst/>
            </a:prstGeom>
          </p:spPr>
        </p:pic>
        <p:pic>
          <p:nvPicPr>
            <p:cNvPr id="31" name="Image 4" descr="preencoded.png">
              <a:extLst>
                <a:ext uri="{FF2B5EF4-FFF2-40B4-BE49-F238E27FC236}">
                  <a16:creationId xmlns:a16="http://schemas.microsoft.com/office/drawing/2014/main" id="{3C392C90-5ECD-81A5-7C50-7381E1EAF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12011" y="222610"/>
              <a:ext cx="147853" cy="142488"/>
            </a:xfrm>
            <a:prstGeom prst="rect">
              <a:avLst/>
            </a:prstGeom>
          </p:spPr>
        </p:pic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B20F879B-39E3-C84B-31D9-866DDC8BBB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" y="0"/>
            <a:ext cx="575156" cy="5751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62835E-097B-AB07-C6DA-5C2273FAACF2}"/>
              </a:ext>
            </a:extLst>
          </p:cNvPr>
          <p:cNvSpPr txBox="1"/>
          <p:nvPr/>
        </p:nvSpPr>
        <p:spPr>
          <a:xfrm>
            <a:off x="216310" y="737419"/>
            <a:ext cx="2703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สถานะความพร้อม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7" name="ตาราง 1">
            <a:extLst>
              <a:ext uri="{FF2B5EF4-FFF2-40B4-BE49-F238E27FC236}">
                <a16:creationId xmlns:a16="http://schemas.microsoft.com/office/drawing/2014/main" id="{13E9DD37-56BA-B563-5B7D-B07A003D95B0}"/>
              </a:ext>
            </a:extLst>
          </p:cNvPr>
          <p:cNvGraphicFramePr>
            <a:graphicFrameLocks noGrp="1"/>
          </p:cNvGraphicFramePr>
          <p:nvPr/>
        </p:nvGraphicFramePr>
        <p:xfrm>
          <a:off x="445104" y="1386791"/>
          <a:ext cx="11301792" cy="39295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31026">
                  <a:extLst>
                    <a:ext uri="{9D8B030D-6E8A-4147-A177-3AD203B41FA5}">
                      <a16:colId xmlns:a16="http://schemas.microsoft.com/office/drawing/2014/main" val="539775554"/>
                    </a:ext>
                  </a:extLst>
                </a:gridCol>
                <a:gridCol w="3776870">
                  <a:extLst>
                    <a:ext uri="{9D8B030D-6E8A-4147-A177-3AD203B41FA5}">
                      <a16:colId xmlns:a16="http://schemas.microsoft.com/office/drawing/2014/main" val="3547444115"/>
                    </a:ext>
                  </a:extLst>
                </a:gridCol>
                <a:gridCol w="2793896">
                  <a:extLst>
                    <a:ext uri="{9D8B030D-6E8A-4147-A177-3AD203B41FA5}">
                      <a16:colId xmlns:a16="http://schemas.microsoft.com/office/drawing/2014/main" val="1554153578"/>
                    </a:ext>
                  </a:extLst>
                </a:gridCol>
              </a:tblGrid>
              <a:tr h="414053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th-TH" sz="36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สถานะความพร้อมด้านการสื่อสาร </a:t>
                      </a:r>
                      <a:r>
                        <a:rPr lang="en-US" sz="36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</a:t>
                      </a:r>
                      <a:endParaRPr lang="th-TH" sz="360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802474"/>
                  </a:ext>
                </a:extLst>
              </a:tr>
              <a:tr h="6030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th-TH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รายการ</a:t>
                      </a:r>
                      <a:endParaRPr lang="en-US" sz="2800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th-TH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จำนวน</a:t>
                      </a: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(สถานี)</a:t>
                      </a:r>
                      <a:endParaRPr lang="en-US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th-TH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ความพร้อม</a:t>
                      </a:r>
                      <a:endParaRPr lang="en-US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0726272"/>
                  </a:ext>
                </a:extLst>
              </a:tr>
              <a:tr h="603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NAV Microwave Network</a:t>
                      </a:r>
                      <a:endParaRPr lang="th-TH" sz="2800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NAV Communication</a:t>
                      </a:r>
                      <a:r>
                        <a:rPr lang="th-TH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 (</a:t>
                      </a: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HF)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NAV Leased-line Broadband Internet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40385" algn="l"/>
                        </a:tabLst>
                        <a:defRPr/>
                      </a:pP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NAV SAT</a:t>
                      </a:r>
                      <a:r>
                        <a:rPr lang="th-TH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 - </a:t>
                      </a: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GLS (Global Locating System)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NAV DF</a:t>
                      </a:r>
                      <a:r>
                        <a:rPr lang="th-TH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 - </a:t>
                      </a: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Direction Finder (DF)</a:t>
                      </a:r>
                      <a:endParaRPr lang="th-TH" sz="2800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th-TH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กำลังทางเรือและอากาศยาน</a:t>
                      </a: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</a:pP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9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</a:pP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4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</a:pP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9</a:t>
                      </a:r>
                      <a:endParaRPr lang="th-TH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</a:pP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11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</a:pP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6</a:t>
                      </a:r>
                      <a:endParaRPr lang="th-TH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  <a:defRPr/>
                      </a:pPr>
                      <a:endParaRPr lang="th-TH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  <a:defRPr/>
                      </a:pPr>
                      <a:endParaRPr lang="th-TH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  <a:defRPr/>
                      </a:pPr>
                      <a:endParaRPr lang="th-TH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325973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92E17FD-98F0-5923-F6E2-B525BC83A0C1}"/>
              </a:ext>
            </a:extLst>
          </p:cNvPr>
          <p:cNvSpPr/>
          <p:nvPr/>
        </p:nvSpPr>
        <p:spPr>
          <a:xfrm>
            <a:off x="9551435" y="2598696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9EB85-956B-377C-1CF1-3965A6F10D13}"/>
              </a:ext>
            </a:extLst>
          </p:cNvPr>
          <p:cNvSpPr/>
          <p:nvPr/>
        </p:nvSpPr>
        <p:spPr>
          <a:xfrm>
            <a:off x="9548122" y="3086367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64FCD-6739-637C-D1BE-FC5F9D8329BF}"/>
              </a:ext>
            </a:extLst>
          </p:cNvPr>
          <p:cNvSpPr/>
          <p:nvPr/>
        </p:nvSpPr>
        <p:spPr>
          <a:xfrm>
            <a:off x="9548121" y="3568073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D7EC2-8FB6-DC9D-A0E2-37D35BE2C499}"/>
              </a:ext>
            </a:extLst>
          </p:cNvPr>
          <p:cNvSpPr/>
          <p:nvPr/>
        </p:nvSpPr>
        <p:spPr>
          <a:xfrm>
            <a:off x="9548120" y="4002712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9DF2F7-2447-C0AC-214D-40575EBEF307}"/>
              </a:ext>
            </a:extLst>
          </p:cNvPr>
          <p:cNvSpPr/>
          <p:nvPr/>
        </p:nvSpPr>
        <p:spPr>
          <a:xfrm>
            <a:off x="9548120" y="4477757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108D7D-E64F-1A27-67BB-FF87EC761AC4}"/>
              </a:ext>
            </a:extLst>
          </p:cNvPr>
          <p:cNvSpPr/>
          <p:nvPr/>
        </p:nvSpPr>
        <p:spPr>
          <a:xfrm>
            <a:off x="9548120" y="4919057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9341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152F9-D870-F40D-4613-7E410BF5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33E190C-F5CC-82E8-3150-E8441B5B0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800"/>
            <a:ext cx="12192000" cy="330200"/>
          </a:xfrm>
          <a:prstGeom prst="rect">
            <a:avLst/>
          </a:prstGeom>
        </p:spPr>
      </p:pic>
      <p:pic>
        <p:nvPicPr>
          <p:cNvPr id="109" name="Image 55" descr="preencoded.png">
            <a:extLst>
              <a:ext uri="{FF2B5EF4-FFF2-40B4-BE49-F238E27FC236}">
                <a16:creationId xmlns:a16="http://schemas.microsoft.com/office/drawing/2014/main" id="{9216E1B6-A934-47D7-5820-E7782E38B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15949"/>
          </a:xfrm>
          <a:prstGeom prst="rect">
            <a:avLst/>
          </a:prstGeom>
          <a:ln>
            <a:noFill/>
          </a:ln>
        </p:spPr>
      </p:pic>
      <p:sp>
        <p:nvSpPr>
          <p:cNvPr id="110" name="Shape 52">
            <a:extLst>
              <a:ext uri="{FF2B5EF4-FFF2-40B4-BE49-F238E27FC236}">
                <a16:creationId xmlns:a16="http://schemas.microsoft.com/office/drawing/2014/main" id="{D9004CBF-BCAA-8119-C8E5-CF76473B2C9F}"/>
              </a:ext>
            </a:extLst>
          </p:cNvPr>
          <p:cNvSpPr/>
          <p:nvPr/>
        </p:nvSpPr>
        <p:spPr>
          <a:xfrm>
            <a:off x="0" y="566276"/>
            <a:ext cx="11423651" cy="12700"/>
          </a:xfrm>
          <a:prstGeom prst="rect">
            <a:avLst/>
          </a:prstGeom>
          <a:solidFill>
            <a:srgbClr val="081333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12" name="Image 57" descr="preencoded.png">
            <a:extLst>
              <a:ext uri="{FF2B5EF4-FFF2-40B4-BE49-F238E27FC236}">
                <a16:creationId xmlns:a16="http://schemas.microsoft.com/office/drawing/2014/main" id="{EB4C7459-022A-57A3-CB13-ECEF42652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03600" cy="565149"/>
          </a:xfrm>
          <a:prstGeom prst="rect">
            <a:avLst/>
          </a:prstGeom>
        </p:spPr>
      </p:pic>
      <p:sp>
        <p:nvSpPr>
          <p:cNvPr id="114" name="Text 53">
            <a:extLst>
              <a:ext uri="{FF2B5EF4-FFF2-40B4-BE49-F238E27FC236}">
                <a16:creationId xmlns:a16="http://schemas.microsoft.com/office/drawing/2014/main" id="{6FC275A7-0F56-2FC4-D62D-D381FAAA54B6}"/>
              </a:ext>
            </a:extLst>
          </p:cNvPr>
          <p:cNvSpPr/>
          <p:nvPr/>
        </p:nvSpPr>
        <p:spPr>
          <a:xfrm>
            <a:off x="4743511" y="64133"/>
            <a:ext cx="5238751" cy="5016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ฝ่ายสื่อสารและไซเบอร์ </a:t>
            </a: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(N6)</a:t>
            </a:r>
          </a:p>
        </p:txBody>
      </p:sp>
      <p:sp>
        <p:nvSpPr>
          <p:cNvPr id="130" name="Shape 28">
            <a:extLst>
              <a:ext uri="{FF2B5EF4-FFF2-40B4-BE49-F238E27FC236}">
                <a16:creationId xmlns:a16="http://schemas.microsoft.com/office/drawing/2014/main" id="{7465CD20-DCFC-5CC0-316E-3769568DA449}"/>
              </a:ext>
            </a:extLst>
          </p:cNvPr>
          <p:cNvSpPr/>
          <p:nvPr/>
        </p:nvSpPr>
        <p:spPr>
          <a:xfrm>
            <a:off x="117915" y="578976"/>
            <a:ext cx="11423651" cy="12700"/>
          </a:xfrm>
          <a:prstGeom prst="rect">
            <a:avLst/>
          </a:prstGeom>
          <a:solidFill>
            <a:srgbClr val="09143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กล่องข้อความ 20">
            <a:extLst>
              <a:ext uri="{FF2B5EF4-FFF2-40B4-BE49-F238E27FC236}">
                <a16:creationId xmlns:a16="http://schemas.microsoft.com/office/drawing/2014/main" id="{85003942-B6B5-715D-B3D7-D17F0E3A906B}"/>
              </a:ext>
            </a:extLst>
          </p:cNvPr>
          <p:cNvSpPr txBox="1"/>
          <p:nvPr/>
        </p:nvSpPr>
        <p:spPr>
          <a:xfrm>
            <a:off x="591720" y="237134"/>
            <a:ext cx="2429832" cy="413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900"/>
              </a:lnSpc>
            </a:pPr>
            <a:r>
              <a:rPr lang="en-US" sz="36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Alizalian</a:t>
            </a:r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 NAVY </a:t>
            </a:r>
            <a:endParaRPr lang="th-TH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กล่องข้อความ 11">
            <a:extLst>
              <a:ext uri="{FF2B5EF4-FFF2-40B4-BE49-F238E27FC236}">
                <a16:creationId xmlns:a16="http://schemas.microsoft.com/office/drawing/2014/main" id="{D2247D3F-03CE-32E3-D93F-AD58B0FEA987}"/>
              </a:ext>
            </a:extLst>
          </p:cNvPr>
          <p:cNvSpPr txBox="1"/>
          <p:nvPr/>
        </p:nvSpPr>
        <p:spPr>
          <a:xfrm>
            <a:off x="85213" y="653067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NCSC 86</a:t>
            </a:r>
          </a:p>
        </p:txBody>
      </p:sp>
      <p:sp>
        <p:nvSpPr>
          <p:cNvPr id="6" name="กล่องข้อความ 16">
            <a:extLst>
              <a:ext uri="{FF2B5EF4-FFF2-40B4-BE49-F238E27FC236}">
                <a16:creationId xmlns:a16="http://schemas.microsoft.com/office/drawing/2014/main" id="{A98D21C7-3F54-6723-20D6-44E281999BC4}"/>
              </a:ext>
            </a:extLst>
          </p:cNvPr>
          <p:cNvSpPr txBox="1"/>
          <p:nvPr/>
        </p:nvSpPr>
        <p:spPr>
          <a:xfrm>
            <a:off x="11429844" y="651754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หน้า</a:t>
            </a:r>
            <a:endParaRPr lang="en-US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กล่องข้อความ 11">
            <a:extLst>
              <a:ext uri="{FF2B5EF4-FFF2-40B4-BE49-F238E27FC236}">
                <a16:creationId xmlns:a16="http://schemas.microsoft.com/office/drawing/2014/main" id="{3DC02C89-DEA6-D9EE-03CF-503FE0F13879}"/>
              </a:ext>
            </a:extLst>
          </p:cNvPr>
          <p:cNvSpPr txBox="1"/>
          <p:nvPr/>
        </p:nvSpPr>
        <p:spPr>
          <a:xfrm>
            <a:off x="5829741" y="653354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AZ 2</a:t>
            </a:r>
          </a:p>
        </p:txBody>
      </p:sp>
      <p:sp>
        <p:nvSpPr>
          <p:cNvPr id="18" name="ตัวแทนหมายเลขสไลด์ 10">
            <a:extLst>
              <a:ext uri="{FF2B5EF4-FFF2-40B4-BE49-F238E27FC236}">
                <a16:creationId xmlns:a16="http://schemas.microsoft.com/office/drawing/2014/main" id="{28151777-B100-A631-DD80-9024FA68B458}"/>
              </a:ext>
            </a:extLst>
          </p:cNvPr>
          <p:cNvSpPr txBox="1">
            <a:spLocks/>
          </p:cNvSpPr>
          <p:nvPr/>
        </p:nvSpPr>
        <p:spPr>
          <a:xfrm>
            <a:off x="11887201" y="6504439"/>
            <a:ext cx="346644" cy="39547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150248-E281-4066-99DD-DC5D5BCD1BC6}" type="slidenum">
              <a:rPr lang="en-US" b="1" smtClean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pPr/>
              <a:t>2</a:t>
            </a:fld>
            <a:endParaRPr lang="en-US" sz="1050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9A99872-6F7A-5CCC-185B-8FD0D28F449D}"/>
              </a:ext>
            </a:extLst>
          </p:cNvPr>
          <p:cNvGrpSpPr/>
          <p:nvPr/>
        </p:nvGrpSpPr>
        <p:grpSpPr>
          <a:xfrm>
            <a:off x="11410062" y="30367"/>
            <a:ext cx="745637" cy="595839"/>
            <a:chOff x="11401516" y="20110"/>
            <a:chExt cx="767770" cy="595839"/>
          </a:xfrm>
        </p:grpSpPr>
        <p:pic>
          <p:nvPicPr>
            <p:cNvPr id="22" name="Image 3" descr="preencoded.png">
              <a:extLst>
                <a:ext uri="{FF2B5EF4-FFF2-40B4-BE49-F238E27FC236}">
                  <a16:creationId xmlns:a16="http://schemas.microsoft.com/office/drawing/2014/main" id="{579EC58E-B8C2-409D-BCC9-96876ADB3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401516" y="20110"/>
              <a:ext cx="767770" cy="595839"/>
            </a:xfrm>
            <a:prstGeom prst="rect">
              <a:avLst/>
            </a:prstGeom>
          </p:spPr>
        </p:pic>
        <p:pic>
          <p:nvPicPr>
            <p:cNvPr id="31" name="Image 4" descr="preencoded.png">
              <a:extLst>
                <a:ext uri="{FF2B5EF4-FFF2-40B4-BE49-F238E27FC236}">
                  <a16:creationId xmlns:a16="http://schemas.microsoft.com/office/drawing/2014/main" id="{F1CD3ACF-CBAC-3D88-B5F2-26C575F00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12011" y="222610"/>
              <a:ext cx="147853" cy="142488"/>
            </a:xfrm>
            <a:prstGeom prst="rect">
              <a:avLst/>
            </a:prstGeom>
          </p:spPr>
        </p:pic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B9214D5C-6F20-5331-C171-3B3E7AF87F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" y="0"/>
            <a:ext cx="575156" cy="575156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861A061-5105-1DEF-9D05-8BEDF1EAA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62864"/>
              </p:ext>
            </p:extLst>
          </p:nvPr>
        </p:nvGraphicFramePr>
        <p:xfrm>
          <a:off x="571145" y="765574"/>
          <a:ext cx="1104970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755">
                  <a:extLst>
                    <a:ext uri="{9D8B030D-6E8A-4147-A177-3AD203B41FA5}">
                      <a16:colId xmlns:a16="http://schemas.microsoft.com/office/drawing/2014/main" val="4131628262"/>
                    </a:ext>
                  </a:extLst>
                </a:gridCol>
                <a:gridCol w="9499954">
                  <a:extLst>
                    <a:ext uri="{9D8B030D-6E8A-4147-A177-3AD203B41FA5}">
                      <a16:colId xmlns:a16="http://schemas.microsoft.com/office/drawing/2014/main" val="20952829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th-TH" sz="24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การปฏิบัติการข่าวสาร</a:t>
                      </a:r>
                      <a:r>
                        <a:rPr lang="en-US" sz="24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endParaRPr lang="en-TH" sz="24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104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มุ่งประสงค์</a:t>
                      </a:r>
                      <a:endParaRPr lang="en-US" sz="2400" b="1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ctr"/>
                      <a:endParaRPr lang="en-TH" sz="2400" b="1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ฝ่ายเสนาธิการด้านการสื่อสารจะให้การสนับสนุนด้านการสื่อสารและระบบสารสนเทศให้กับกองก</a:t>
                      </a:r>
                      <a:r>
                        <a:rPr lang="th-TH" sz="240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ํา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ลังทางเรือ ให้มีความมั่งคง ต่อเนื่องและปลอดภัย ระหว่างปฏิบัติการในพื้นที่ รวมทั้งจะให้การสนับสนุนการปฏิบัติการไซเบอร์ตลอดห้วงปฏิบัติการ</a:t>
                      </a:r>
                      <a:endParaRPr lang="en-TH" sz="240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38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วิธีการ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ctr"/>
                      <a:endParaRPr lang="en-TH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ใช้การบูรณาการเครื่องมือต่างๆในการสื่อสารต่างๆ ผ่านการก</a:t>
                      </a:r>
                      <a:r>
                        <a:rPr lang="th-TH" sz="240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ํา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หนดกระบวนการการใช้งาน เพ</a:t>
                      </a:r>
                      <a:r>
                        <a:rPr lang="th-TH" sz="240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ื่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อด</a:t>
                      </a:r>
                      <a:r>
                        <a:rPr lang="th-TH" sz="240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ํา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รงการติดต่อสื่อสารระหว่างกองก</a:t>
                      </a:r>
                      <a:r>
                        <a:rPr lang="th-TH" sz="240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ํา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ลังและส่วนบัญชาการ ภายใต้มาตรการความปลอดภัยในสภาวะสงครามอิเล็กทรอนิกส์ที่มีการรบกวนสัญญาณ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Jamming)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และการดักฟัง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SIGINT)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และใช้การปฏิบัติการทางไซเบอร์ เพื่อป้องกันข้อมูลและระบบสื่อสารและสารสนเทศและใช้การโจมตีทางไซเบอร์เพื่อให้ความได้เปรียบในการการปฏิบัติการ</a:t>
                      </a:r>
                      <a:endParaRPr lang="en-TH" sz="240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62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สภาวะสุดท้ายที่ต้องการ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ctr"/>
                      <a:endParaRPr lang="en-TH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thai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ระบบสื่อสารมีความรวดเร็ว ต่อเนื่อง ปลอดภัย เชื่อถือได้ ตลอดห้วงการปฏิบัติการมีความปลอดภัยทางไซเบอร์</a:t>
                      </a:r>
                      <a:endParaRPr lang="en-TH" sz="240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738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400" b="1" dirty="0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ภารกิจ</a:t>
                      </a:r>
                      <a:endParaRPr lang="en-TH" sz="2400" b="1" dirty="0">
                        <a:solidFill>
                          <a:srgbClr val="002060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2400" dirty="0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ฝ่ายเสนาธิการด้านการสื่อสารจะให้การสนับสนุนด้านการสื่อสารและสารสนเทศในมีความพร้อม ตลอดจนมาตรการความปลอดภัยในด้านการสื่อสาร รวมถึงปฏิบัติการไซเบอร์ตลอดห้วงการปฏิบัติการ เพ</a:t>
                      </a:r>
                      <a:r>
                        <a:rPr lang="th-TH" sz="2400" dirty="0" err="1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ื่</a:t>
                      </a:r>
                      <a:r>
                        <a:rPr lang="th-TH" sz="2400" dirty="0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อด</a:t>
                      </a:r>
                      <a:r>
                        <a:rPr lang="th-TH" sz="2400" dirty="0" err="1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ํา</a:t>
                      </a:r>
                      <a:r>
                        <a:rPr lang="th-TH" sz="2400" dirty="0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งไว้ซึ่งการติดต่อสื่อสารของการปฏิบัติการทั้งหมดรวมถึงความปลอดภัยของระบบสารสนเทศและโครงสร้างพื้นฐานของฝ่ายเราในมิติทางไซเบอร์</a:t>
                      </a:r>
                      <a:endParaRPr lang="en-TH" sz="2400" dirty="0">
                        <a:solidFill>
                          <a:srgbClr val="002060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544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297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C7D9-018B-87A5-6D74-1CA33CBD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EA39C60-740B-0754-468E-760AFDAEB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800"/>
            <a:ext cx="12192000" cy="330200"/>
          </a:xfrm>
          <a:prstGeom prst="rect">
            <a:avLst/>
          </a:prstGeom>
        </p:spPr>
      </p:pic>
      <p:pic>
        <p:nvPicPr>
          <p:cNvPr id="109" name="Image 55" descr="preencoded.png">
            <a:extLst>
              <a:ext uri="{FF2B5EF4-FFF2-40B4-BE49-F238E27FC236}">
                <a16:creationId xmlns:a16="http://schemas.microsoft.com/office/drawing/2014/main" id="{A0F6FC14-7DE5-ECBC-24E6-3D11B9F94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15949"/>
          </a:xfrm>
          <a:prstGeom prst="rect">
            <a:avLst/>
          </a:prstGeom>
          <a:ln>
            <a:noFill/>
          </a:ln>
        </p:spPr>
      </p:pic>
      <p:sp>
        <p:nvSpPr>
          <p:cNvPr id="110" name="Shape 52">
            <a:extLst>
              <a:ext uri="{FF2B5EF4-FFF2-40B4-BE49-F238E27FC236}">
                <a16:creationId xmlns:a16="http://schemas.microsoft.com/office/drawing/2014/main" id="{6E7DFB9D-766D-AB4D-3372-62A48043BB6A}"/>
              </a:ext>
            </a:extLst>
          </p:cNvPr>
          <p:cNvSpPr/>
          <p:nvPr/>
        </p:nvSpPr>
        <p:spPr>
          <a:xfrm>
            <a:off x="642554" y="566276"/>
            <a:ext cx="11423651" cy="12700"/>
          </a:xfrm>
          <a:prstGeom prst="rect">
            <a:avLst/>
          </a:prstGeom>
          <a:solidFill>
            <a:srgbClr val="081333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12" name="Image 57" descr="preencoded.png">
            <a:extLst>
              <a:ext uri="{FF2B5EF4-FFF2-40B4-BE49-F238E27FC236}">
                <a16:creationId xmlns:a16="http://schemas.microsoft.com/office/drawing/2014/main" id="{E852EB83-8437-6604-057A-3B27B186A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03600" cy="565149"/>
          </a:xfrm>
          <a:prstGeom prst="rect">
            <a:avLst/>
          </a:prstGeom>
        </p:spPr>
      </p:pic>
      <p:sp>
        <p:nvSpPr>
          <p:cNvPr id="130" name="Shape 28">
            <a:extLst>
              <a:ext uri="{FF2B5EF4-FFF2-40B4-BE49-F238E27FC236}">
                <a16:creationId xmlns:a16="http://schemas.microsoft.com/office/drawing/2014/main" id="{DBC76627-E3F6-42AF-015A-58499E1F0783}"/>
              </a:ext>
            </a:extLst>
          </p:cNvPr>
          <p:cNvSpPr/>
          <p:nvPr/>
        </p:nvSpPr>
        <p:spPr>
          <a:xfrm>
            <a:off x="642552" y="559434"/>
            <a:ext cx="11423651" cy="12700"/>
          </a:xfrm>
          <a:prstGeom prst="rect">
            <a:avLst/>
          </a:prstGeom>
          <a:solidFill>
            <a:srgbClr val="09143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กล่องข้อความ 20">
            <a:extLst>
              <a:ext uri="{FF2B5EF4-FFF2-40B4-BE49-F238E27FC236}">
                <a16:creationId xmlns:a16="http://schemas.microsoft.com/office/drawing/2014/main" id="{02F0583C-B0C4-A585-D142-725813308ECF}"/>
              </a:ext>
            </a:extLst>
          </p:cNvPr>
          <p:cNvSpPr txBox="1"/>
          <p:nvPr/>
        </p:nvSpPr>
        <p:spPr>
          <a:xfrm>
            <a:off x="591720" y="237134"/>
            <a:ext cx="2429832" cy="413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900"/>
              </a:lnSpc>
            </a:pPr>
            <a:r>
              <a:rPr lang="en-US" sz="36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Alizalian</a:t>
            </a:r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 NAVY </a:t>
            </a:r>
            <a:endParaRPr lang="th-TH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กล่องข้อความ 11">
            <a:extLst>
              <a:ext uri="{FF2B5EF4-FFF2-40B4-BE49-F238E27FC236}">
                <a16:creationId xmlns:a16="http://schemas.microsoft.com/office/drawing/2014/main" id="{C438DC55-D921-7628-B6C0-E3DFDE0626B4}"/>
              </a:ext>
            </a:extLst>
          </p:cNvPr>
          <p:cNvSpPr txBox="1"/>
          <p:nvPr/>
        </p:nvSpPr>
        <p:spPr>
          <a:xfrm>
            <a:off x="85213" y="653067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NCSC 86</a:t>
            </a:r>
          </a:p>
        </p:txBody>
      </p:sp>
      <p:sp>
        <p:nvSpPr>
          <p:cNvPr id="6" name="กล่องข้อความ 16">
            <a:extLst>
              <a:ext uri="{FF2B5EF4-FFF2-40B4-BE49-F238E27FC236}">
                <a16:creationId xmlns:a16="http://schemas.microsoft.com/office/drawing/2014/main" id="{DB395281-F660-C4F8-096E-4E7D1348BC85}"/>
              </a:ext>
            </a:extLst>
          </p:cNvPr>
          <p:cNvSpPr txBox="1"/>
          <p:nvPr/>
        </p:nvSpPr>
        <p:spPr>
          <a:xfrm>
            <a:off x="11429844" y="651754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หน้า</a:t>
            </a:r>
            <a:endParaRPr lang="en-US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กล่องข้อความ 11">
            <a:extLst>
              <a:ext uri="{FF2B5EF4-FFF2-40B4-BE49-F238E27FC236}">
                <a16:creationId xmlns:a16="http://schemas.microsoft.com/office/drawing/2014/main" id="{0A6E1BF7-7E51-4AEF-5FC9-2270E56F9773}"/>
              </a:ext>
            </a:extLst>
          </p:cNvPr>
          <p:cNvSpPr txBox="1"/>
          <p:nvPr/>
        </p:nvSpPr>
        <p:spPr>
          <a:xfrm>
            <a:off x="5829741" y="653354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AZ 2</a:t>
            </a:r>
          </a:p>
        </p:txBody>
      </p:sp>
      <p:sp>
        <p:nvSpPr>
          <p:cNvPr id="18" name="ตัวแทนหมายเลขสไลด์ 10">
            <a:extLst>
              <a:ext uri="{FF2B5EF4-FFF2-40B4-BE49-F238E27FC236}">
                <a16:creationId xmlns:a16="http://schemas.microsoft.com/office/drawing/2014/main" id="{7B256A2E-0F12-D784-111D-A3C89BA0907A}"/>
              </a:ext>
            </a:extLst>
          </p:cNvPr>
          <p:cNvSpPr txBox="1">
            <a:spLocks/>
          </p:cNvSpPr>
          <p:nvPr/>
        </p:nvSpPr>
        <p:spPr>
          <a:xfrm>
            <a:off x="11887201" y="6504439"/>
            <a:ext cx="346644" cy="39547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150248-E281-4066-99DD-DC5D5BCD1BC6}" type="slidenum">
              <a:rPr lang="en-US" b="1" smtClean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pPr/>
              <a:t>3</a:t>
            </a:fld>
            <a:endParaRPr lang="en-US" sz="1050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6D184C5-0A95-C8CA-BF76-89EBD3BFD7C3}"/>
              </a:ext>
            </a:extLst>
          </p:cNvPr>
          <p:cNvGrpSpPr/>
          <p:nvPr/>
        </p:nvGrpSpPr>
        <p:grpSpPr>
          <a:xfrm>
            <a:off x="11410062" y="30367"/>
            <a:ext cx="745637" cy="595839"/>
            <a:chOff x="11401516" y="20110"/>
            <a:chExt cx="767770" cy="595839"/>
          </a:xfrm>
        </p:grpSpPr>
        <p:pic>
          <p:nvPicPr>
            <p:cNvPr id="22" name="Image 3" descr="preencoded.png">
              <a:extLst>
                <a:ext uri="{FF2B5EF4-FFF2-40B4-BE49-F238E27FC236}">
                  <a16:creationId xmlns:a16="http://schemas.microsoft.com/office/drawing/2014/main" id="{26B138BE-58AD-B144-AD12-573B2B70E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401516" y="20110"/>
              <a:ext cx="767770" cy="595839"/>
            </a:xfrm>
            <a:prstGeom prst="rect">
              <a:avLst/>
            </a:prstGeom>
          </p:spPr>
        </p:pic>
        <p:pic>
          <p:nvPicPr>
            <p:cNvPr id="31" name="Image 4" descr="preencoded.png">
              <a:extLst>
                <a:ext uri="{FF2B5EF4-FFF2-40B4-BE49-F238E27FC236}">
                  <a16:creationId xmlns:a16="http://schemas.microsoft.com/office/drawing/2014/main" id="{DD98DA34-8473-6BB6-F132-6C9F5DEC9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12011" y="222610"/>
              <a:ext cx="147853" cy="142488"/>
            </a:xfrm>
            <a:prstGeom prst="rect">
              <a:avLst/>
            </a:prstGeom>
          </p:spPr>
        </p:pic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DD20C0C1-BE91-8577-C4F7-F9F121DE81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" y="0"/>
            <a:ext cx="575156" cy="57515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5DC7ACD-129A-3D7A-69C6-322573D8F540}"/>
              </a:ext>
            </a:extLst>
          </p:cNvPr>
          <p:cNvSpPr/>
          <p:nvPr/>
        </p:nvSpPr>
        <p:spPr>
          <a:xfrm>
            <a:off x="2251999" y="3432140"/>
            <a:ext cx="6625921" cy="1270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9372B-4F63-D6DC-495C-DB207A385F3D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1892950" y="4615030"/>
            <a:ext cx="6659614" cy="36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3A28C84-8727-CEDD-CBFE-0DCFB68D6DC6}"/>
              </a:ext>
            </a:extLst>
          </p:cNvPr>
          <p:cNvSpPr txBox="1"/>
          <p:nvPr/>
        </p:nvSpPr>
        <p:spPr>
          <a:xfrm>
            <a:off x="9990202" y="4200091"/>
            <a:ext cx="1782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C&amp;C LOE COA 1</a:t>
            </a:r>
            <a:endParaRPr lang="en-TH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AD3B5B-1478-14CF-631E-AD07C4FCB83D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1878749" y="4087774"/>
            <a:ext cx="6625984" cy="449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C483012-C252-1D8F-0251-E8178A29F997}"/>
              </a:ext>
            </a:extLst>
          </p:cNvPr>
          <p:cNvSpPr txBox="1"/>
          <p:nvPr/>
        </p:nvSpPr>
        <p:spPr>
          <a:xfrm>
            <a:off x="581306" y="640682"/>
            <a:ext cx="130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 COA 1</a:t>
            </a:r>
            <a:endParaRPr lang="en-TH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58F5F89-7055-4A8F-9F0D-34B3CAE3192D}"/>
              </a:ext>
            </a:extLst>
          </p:cNvPr>
          <p:cNvSpPr/>
          <p:nvPr/>
        </p:nvSpPr>
        <p:spPr>
          <a:xfrm>
            <a:off x="938149" y="3861827"/>
            <a:ext cx="940600" cy="45189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H" dirty="0"/>
              <a:t>Comm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32B56B-0DDB-5192-0994-FE4E596970CA}"/>
              </a:ext>
            </a:extLst>
          </p:cNvPr>
          <p:cNvSpPr/>
          <p:nvPr/>
        </p:nvSpPr>
        <p:spPr>
          <a:xfrm>
            <a:off x="935968" y="4425943"/>
            <a:ext cx="956982" cy="45189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Cyber</a:t>
            </a:r>
            <a:endParaRPr lang="en-TH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600ECE8-4E75-0E9F-3B51-05A3859BF173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8504733" y="4127386"/>
            <a:ext cx="464018" cy="2568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6AE9D71-E533-3330-D130-E7560AD85197}"/>
              </a:ext>
            </a:extLst>
          </p:cNvPr>
          <p:cNvCxnSpPr>
            <a:cxnSpLocks/>
            <a:endCxn id="83" idx="1"/>
          </p:cNvCxnSpPr>
          <p:nvPr/>
        </p:nvCxnSpPr>
        <p:spPr>
          <a:xfrm flipV="1">
            <a:off x="8552564" y="4384244"/>
            <a:ext cx="416187" cy="2377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ABA6FD7E-74F3-1182-C33F-C23CEF8D8513}"/>
              </a:ext>
            </a:extLst>
          </p:cNvPr>
          <p:cNvSpPr/>
          <p:nvPr/>
        </p:nvSpPr>
        <p:spPr>
          <a:xfrm>
            <a:off x="8968751" y="4183273"/>
            <a:ext cx="859560" cy="40194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H" sz="1200" dirty="0"/>
              <a:t>END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F98F4E-AE4D-E7A5-03C6-05909325302F}"/>
              </a:ext>
            </a:extLst>
          </p:cNvPr>
          <p:cNvSpPr txBox="1"/>
          <p:nvPr/>
        </p:nvSpPr>
        <p:spPr>
          <a:xfrm>
            <a:off x="932217" y="4996619"/>
            <a:ext cx="4632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DP1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ได้ภาพสถานการณ์ในพื้นที่รับผิดชอบ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DP2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เตรียมความพร้อมโครงสร้างพื้นฐาน</a:t>
            </a:r>
            <a:r>
              <a:rPr lang="en-TH" dirty="0">
                <a:effectLst/>
              </a:rPr>
              <a:t>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DP3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โครงข่ายการติดต่อสื่อสารของหน่วยกำลังสั่งการพร้อมปฏิบัติการ</a:t>
            </a:r>
            <a:r>
              <a:rPr lang="en-TH" dirty="0">
                <a:effectLst/>
              </a:rPr>
              <a:t>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DP4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เครือข่ายได้รับการสถาปนาการระวังป้องกันอย่างสมบูรณ์</a:t>
            </a:r>
            <a:r>
              <a:rPr lang="en-TH" dirty="0">
                <a:effectLst/>
              </a:rPr>
              <a:t>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DP6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ระบบการสื่อสารของข้าศึกถูกขัดขวางและลิดรอน</a:t>
            </a:r>
            <a:r>
              <a:rPr lang="en-TH" dirty="0">
                <a:effectLst/>
              </a:rPr>
              <a:t> </a:t>
            </a:r>
            <a:endParaRPr lang="en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A6B5F7-06C5-9DCB-C2F9-894B33481869}"/>
              </a:ext>
            </a:extLst>
          </p:cNvPr>
          <p:cNvSpPr txBox="1"/>
          <p:nvPr/>
        </p:nvSpPr>
        <p:spPr>
          <a:xfrm>
            <a:off x="5267772" y="5040215"/>
            <a:ext cx="4632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DP7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ระบบเครือข่ายควบคุมการบังคับบัญชาของข้าศึกถูกหยุดชะงัก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DP8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โครงข่ายการสื่อสารส่วนหน้าบนพื้นที่เกาะได้รับการสถาปนา</a:t>
            </a:r>
            <a:r>
              <a:rPr lang="en-TH" dirty="0">
                <a:effectLst/>
              </a:rPr>
              <a:t>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DP10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ข้อมูลทางยุทธวิธีได้รับการสำรองและระบบพร้อมรับซ่อมบำรุง</a:t>
            </a:r>
            <a:r>
              <a:rPr lang="en-TH" dirty="0">
                <a:effectLst/>
              </a:rPr>
              <a:t> 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DP11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ระบบสารสนเทศและการสื่อสารที่เสียหายได้รับการกู้คืน</a:t>
            </a:r>
            <a:r>
              <a:rPr lang="en-TH" dirty="0">
                <a:effectLst/>
              </a:rPr>
              <a:t>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DP12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โครงข่ายการสื่อสารได้รับการขยายขีดความสามารถ</a:t>
            </a:r>
            <a:r>
              <a:rPr lang="th-TH" dirty="0">
                <a:solidFill>
                  <a:srgbClr val="10101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และต่อเนื่อง</a:t>
            </a:r>
            <a:endParaRPr lang="en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6D061F4-5047-149A-CB75-D0DCA8DD5744}"/>
              </a:ext>
            </a:extLst>
          </p:cNvPr>
          <p:cNvGrpSpPr/>
          <p:nvPr/>
        </p:nvGrpSpPr>
        <p:grpSpPr>
          <a:xfrm>
            <a:off x="5598908" y="3819411"/>
            <a:ext cx="358384" cy="442737"/>
            <a:chOff x="4787154" y="4082604"/>
            <a:chExt cx="358384" cy="442737"/>
          </a:xfrm>
        </p:grpSpPr>
        <p:sp>
          <p:nvSpPr>
            <p:cNvPr id="49" name="Triangle 48">
              <a:extLst>
                <a:ext uri="{FF2B5EF4-FFF2-40B4-BE49-F238E27FC236}">
                  <a16:creationId xmlns:a16="http://schemas.microsoft.com/office/drawing/2014/main" id="{B9451682-85C3-ECF2-C0ED-BD017EDAE200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AD31576-4D44-73FB-DACE-2F961CBC9FA1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6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98A2275-D0D4-8604-8D96-7817D90A28A0}"/>
              </a:ext>
            </a:extLst>
          </p:cNvPr>
          <p:cNvGrpSpPr/>
          <p:nvPr/>
        </p:nvGrpSpPr>
        <p:grpSpPr>
          <a:xfrm>
            <a:off x="6983689" y="3819411"/>
            <a:ext cx="431528" cy="469823"/>
            <a:chOff x="4764591" y="4082604"/>
            <a:chExt cx="431528" cy="469823"/>
          </a:xfrm>
        </p:grpSpPr>
        <p:sp>
          <p:nvSpPr>
            <p:cNvPr id="71" name="Triangle 70">
              <a:extLst>
                <a:ext uri="{FF2B5EF4-FFF2-40B4-BE49-F238E27FC236}">
                  <a16:creationId xmlns:a16="http://schemas.microsoft.com/office/drawing/2014/main" id="{6A3691A4-AEF8-AA5C-A5B1-783D1D0EC97C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5DDABC2-9531-3929-155A-DD477C33B8E8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10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2ECDDA9-EC1E-38EB-090E-C235150E5B08}"/>
              </a:ext>
            </a:extLst>
          </p:cNvPr>
          <p:cNvGrpSpPr/>
          <p:nvPr/>
        </p:nvGrpSpPr>
        <p:grpSpPr>
          <a:xfrm>
            <a:off x="6143530" y="3819411"/>
            <a:ext cx="358384" cy="442737"/>
            <a:chOff x="4787154" y="4082604"/>
            <a:chExt cx="358384" cy="442737"/>
          </a:xfrm>
        </p:grpSpPr>
        <p:sp>
          <p:nvSpPr>
            <p:cNvPr id="76" name="Triangle 75">
              <a:extLst>
                <a:ext uri="{FF2B5EF4-FFF2-40B4-BE49-F238E27FC236}">
                  <a16:creationId xmlns:a16="http://schemas.microsoft.com/office/drawing/2014/main" id="{9F6D8ADE-A028-6951-E69F-A3A9F70B97B8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F9B53D8-0B4A-42BD-B4CE-DD27EF64888D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8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17BBFCC-DF17-7A1E-2278-73E11A2D6B5B}"/>
              </a:ext>
            </a:extLst>
          </p:cNvPr>
          <p:cNvGrpSpPr/>
          <p:nvPr/>
        </p:nvGrpSpPr>
        <p:grpSpPr>
          <a:xfrm>
            <a:off x="7459975" y="4396515"/>
            <a:ext cx="431528" cy="469823"/>
            <a:chOff x="4764591" y="4082604"/>
            <a:chExt cx="431528" cy="469823"/>
          </a:xfrm>
        </p:grpSpPr>
        <p:sp>
          <p:nvSpPr>
            <p:cNvPr id="94" name="Triangle 93">
              <a:extLst>
                <a:ext uri="{FF2B5EF4-FFF2-40B4-BE49-F238E27FC236}">
                  <a16:creationId xmlns:a16="http://schemas.microsoft.com/office/drawing/2014/main" id="{05C6CB44-5B6D-03C4-894D-4303C327A5E9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4B243E6-CE14-0F17-509F-C9AEC4A423C0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11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8360E7-A3D4-A94E-B976-2381453B63B7}"/>
              </a:ext>
            </a:extLst>
          </p:cNvPr>
          <p:cNvGrpSpPr/>
          <p:nvPr/>
        </p:nvGrpSpPr>
        <p:grpSpPr>
          <a:xfrm>
            <a:off x="3698083" y="4396685"/>
            <a:ext cx="358384" cy="442737"/>
            <a:chOff x="4787154" y="4082604"/>
            <a:chExt cx="358384" cy="442737"/>
          </a:xfrm>
        </p:grpSpPr>
        <p:sp>
          <p:nvSpPr>
            <p:cNvPr id="98" name="Triangle 97">
              <a:extLst>
                <a:ext uri="{FF2B5EF4-FFF2-40B4-BE49-F238E27FC236}">
                  <a16:creationId xmlns:a16="http://schemas.microsoft.com/office/drawing/2014/main" id="{B242481C-A3EB-9A26-A067-88F9B7B803F8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03D43C1-0DAC-2EA9-788C-7E5CB78E72A9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4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47F3017-990F-3425-B7D8-F3F901E82B29}"/>
              </a:ext>
            </a:extLst>
          </p:cNvPr>
          <p:cNvGrpSpPr/>
          <p:nvPr/>
        </p:nvGrpSpPr>
        <p:grpSpPr>
          <a:xfrm>
            <a:off x="2522346" y="4376338"/>
            <a:ext cx="358384" cy="442737"/>
            <a:chOff x="4787154" y="4082604"/>
            <a:chExt cx="358384" cy="442737"/>
          </a:xfrm>
        </p:grpSpPr>
        <p:sp>
          <p:nvSpPr>
            <p:cNvPr id="101" name="Triangle 100">
              <a:extLst>
                <a:ext uri="{FF2B5EF4-FFF2-40B4-BE49-F238E27FC236}">
                  <a16:creationId xmlns:a16="http://schemas.microsoft.com/office/drawing/2014/main" id="{1A9FD3E8-01F3-7886-3895-D604578D4AEC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6A770DB-DFC7-7405-8C4A-197EA0E6B469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2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F7B5BEA-239A-B0A9-3ED3-85B8E5228FA5}"/>
              </a:ext>
            </a:extLst>
          </p:cNvPr>
          <p:cNvGrpSpPr/>
          <p:nvPr/>
        </p:nvGrpSpPr>
        <p:grpSpPr>
          <a:xfrm>
            <a:off x="2103840" y="3836529"/>
            <a:ext cx="358384" cy="442737"/>
            <a:chOff x="4787154" y="4082604"/>
            <a:chExt cx="358384" cy="442737"/>
          </a:xfrm>
        </p:grpSpPr>
        <p:sp>
          <p:nvSpPr>
            <p:cNvPr id="104" name="Triangle 103">
              <a:extLst>
                <a:ext uri="{FF2B5EF4-FFF2-40B4-BE49-F238E27FC236}">
                  <a16:creationId xmlns:a16="http://schemas.microsoft.com/office/drawing/2014/main" id="{66DBB0C8-ADA8-D7A6-9C2A-216E6314BCCF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533C48D-C590-4E78-5F5F-4F764172C563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9FB9C88-205A-532A-EAAC-AB1402D6C27F}"/>
              </a:ext>
            </a:extLst>
          </p:cNvPr>
          <p:cNvGrpSpPr/>
          <p:nvPr/>
        </p:nvGrpSpPr>
        <p:grpSpPr>
          <a:xfrm>
            <a:off x="2095483" y="4359983"/>
            <a:ext cx="358384" cy="442737"/>
            <a:chOff x="4787154" y="4082604"/>
            <a:chExt cx="358384" cy="442737"/>
          </a:xfrm>
        </p:grpSpPr>
        <p:sp>
          <p:nvSpPr>
            <p:cNvPr id="107" name="Triangle 106">
              <a:extLst>
                <a:ext uri="{FF2B5EF4-FFF2-40B4-BE49-F238E27FC236}">
                  <a16:creationId xmlns:a16="http://schemas.microsoft.com/office/drawing/2014/main" id="{FDAC3425-7484-FC25-945E-6DE3966CE597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E59A357-370C-9401-F6A0-3D9521AFB07B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600A387-7439-112E-DFAB-B8C15440F2DE}"/>
              </a:ext>
            </a:extLst>
          </p:cNvPr>
          <p:cNvGrpSpPr/>
          <p:nvPr/>
        </p:nvGrpSpPr>
        <p:grpSpPr>
          <a:xfrm>
            <a:off x="2572698" y="3828813"/>
            <a:ext cx="358384" cy="442737"/>
            <a:chOff x="4787154" y="4082604"/>
            <a:chExt cx="358384" cy="442737"/>
          </a:xfrm>
        </p:grpSpPr>
        <p:sp>
          <p:nvSpPr>
            <p:cNvPr id="113" name="Triangle 112">
              <a:extLst>
                <a:ext uri="{FF2B5EF4-FFF2-40B4-BE49-F238E27FC236}">
                  <a16:creationId xmlns:a16="http://schemas.microsoft.com/office/drawing/2014/main" id="{D3512F5D-66CF-46CF-8063-F3AC6118E07F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0099B67-82F2-9223-18D8-C68764259919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2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8743226-BD8F-7DA6-94BC-B8FF82D8244E}"/>
              </a:ext>
            </a:extLst>
          </p:cNvPr>
          <p:cNvGrpSpPr/>
          <p:nvPr/>
        </p:nvGrpSpPr>
        <p:grpSpPr>
          <a:xfrm>
            <a:off x="2976074" y="4373481"/>
            <a:ext cx="358384" cy="442737"/>
            <a:chOff x="4787154" y="4082604"/>
            <a:chExt cx="358384" cy="442737"/>
          </a:xfrm>
        </p:grpSpPr>
        <p:sp>
          <p:nvSpPr>
            <p:cNvPr id="117" name="Triangle 116">
              <a:extLst>
                <a:ext uri="{FF2B5EF4-FFF2-40B4-BE49-F238E27FC236}">
                  <a16:creationId xmlns:a16="http://schemas.microsoft.com/office/drawing/2014/main" id="{1304CE8A-98E2-F748-7EAE-59C60AB40E3C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C01C169-D735-1D38-40AC-43E6A55473B0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3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DA76FAB-907D-3A1E-F1AC-823869BDE3F2}"/>
              </a:ext>
            </a:extLst>
          </p:cNvPr>
          <p:cNvGrpSpPr/>
          <p:nvPr/>
        </p:nvGrpSpPr>
        <p:grpSpPr>
          <a:xfrm>
            <a:off x="2974508" y="3828878"/>
            <a:ext cx="358384" cy="442737"/>
            <a:chOff x="4787154" y="4082604"/>
            <a:chExt cx="358384" cy="442737"/>
          </a:xfrm>
        </p:grpSpPr>
        <p:sp>
          <p:nvSpPr>
            <p:cNvPr id="120" name="Triangle 119">
              <a:extLst>
                <a:ext uri="{FF2B5EF4-FFF2-40B4-BE49-F238E27FC236}">
                  <a16:creationId xmlns:a16="http://schemas.microsoft.com/office/drawing/2014/main" id="{C87AA1A1-8074-A390-C394-F7CA726F8DCA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6A23817-A642-5D24-5055-F46439462E27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3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D5F667F-1F2C-A385-30CF-71F47FC9C4AF}"/>
              </a:ext>
            </a:extLst>
          </p:cNvPr>
          <p:cNvGrpSpPr/>
          <p:nvPr/>
        </p:nvGrpSpPr>
        <p:grpSpPr>
          <a:xfrm>
            <a:off x="3663215" y="3819411"/>
            <a:ext cx="358384" cy="442737"/>
            <a:chOff x="4787154" y="4082604"/>
            <a:chExt cx="358384" cy="442737"/>
          </a:xfrm>
        </p:grpSpPr>
        <p:sp>
          <p:nvSpPr>
            <p:cNvPr id="125" name="Triangle 124">
              <a:extLst>
                <a:ext uri="{FF2B5EF4-FFF2-40B4-BE49-F238E27FC236}">
                  <a16:creationId xmlns:a16="http://schemas.microsoft.com/office/drawing/2014/main" id="{242B4D15-9AF5-F114-D02E-D282CC72E066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CDCA79D-EA5E-7C27-DC1E-28F4B3B6086B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4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CC99B3C-6911-409A-D028-C82C8EB1D204}"/>
              </a:ext>
            </a:extLst>
          </p:cNvPr>
          <p:cNvGrpSpPr/>
          <p:nvPr/>
        </p:nvGrpSpPr>
        <p:grpSpPr>
          <a:xfrm>
            <a:off x="5610568" y="4418319"/>
            <a:ext cx="358384" cy="442737"/>
            <a:chOff x="4787154" y="4082604"/>
            <a:chExt cx="358384" cy="442737"/>
          </a:xfrm>
        </p:grpSpPr>
        <p:sp>
          <p:nvSpPr>
            <p:cNvPr id="128" name="Triangle 127">
              <a:extLst>
                <a:ext uri="{FF2B5EF4-FFF2-40B4-BE49-F238E27FC236}">
                  <a16:creationId xmlns:a16="http://schemas.microsoft.com/office/drawing/2014/main" id="{696962D2-14AB-6BAF-6329-1BCAF4DBC668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79E396B-A1A3-6960-65DB-D3A0E22F0A03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7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498A043-9D02-48AD-AADD-C14A2377F179}"/>
              </a:ext>
            </a:extLst>
          </p:cNvPr>
          <p:cNvGrpSpPr/>
          <p:nvPr/>
        </p:nvGrpSpPr>
        <p:grpSpPr>
          <a:xfrm>
            <a:off x="6980483" y="4377028"/>
            <a:ext cx="431528" cy="469823"/>
            <a:chOff x="4764591" y="4082604"/>
            <a:chExt cx="431528" cy="469823"/>
          </a:xfrm>
        </p:grpSpPr>
        <p:sp>
          <p:nvSpPr>
            <p:cNvPr id="135" name="Triangle 134">
              <a:extLst>
                <a:ext uri="{FF2B5EF4-FFF2-40B4-BE49-F238E27FC236}">
                  <a16:creationId xmlns:a16="http://schemas.microsoft.com/office/drawing/2014/main" id="{4AD544B1-E3D6-876E-E2F0-00AB5C8C44DF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699CF23E-53A8-1676-0891-D3F0374252F6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10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959961D-BC5D-63D1-C247-5D1DF16C6562}"/>
              </a:ext>
            </a:extLst>
          </p:cNvPr>
          <p:cNvGrpSpPr/>
          <p:nvPr/>
        </p:nvGrpSpPr>
        <p:grpSpPr>
          <a:xfrm>
            <a:off x="7473546" y="3840139"/>
            <a:ext cx="431528" cy="469823"/>
            <a:chOff x="4764591" y="4082604"/>
            <a:chExt cx="431528" cy="469823"/>
          </a:xfrm>
        </p:grpSpPr>
        <p:sp>
          <p:nvSpPr>
            <p:cNvPr id="138" name="Triangle 137">
              <a:extLst>
                <a:ext uri="{FF2B5EF4-FFF2-40B4-BE49-F238E27FC236}">
                  <a16:creationId xmlns:a16="http://schemas.microsoft.com/office/drawing/2014/main" id="{F09DDEE3-CB6B-D8D4-969A-6C87E9C5DD4B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18652E1-CE20-5080-EF94-B712292D0F31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11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24B7077-CAA0-2C3B-AC59-5F963C226E8D}"/>
              </a:ext>
            </a:extLst>
          </p:cNvPr>
          <p:cNvGrpSpPr/>
          <p:nvPr/>
        </p:nvGrpSpPr>
        <p:grpSpPr>
          <a:xfrm>
            <a:off x="7982374" y="4400849"/>
            <a:ext cx="431528" cy="469823"/>
            <a:chOff x="4764591" y="4082604"/>
            <a:chExt cx="431528" cy="469823"/>
          </a:xfrm>
        </p:grpSpPr>
        <p:sp>
          <p:nvSpPr>
            <p:cNvPr id="141" name="Triangle 140">
              <a:extLst>
                <a:ext uri="{FF2B5EF4-FFF2-40B4-BE49-F238E27FC236}">
                  <a16:creationId xmlns:a16="http://schemas.microsoft.com/office/drawing/2014/main" id="{64D75159-2734-9205-6E05-922AB1AC1C13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C17341A-5E05-B90C-C64C-9071C0E93909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12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EB2F179-2674-8044-C044-E131689C1E3A}"/>
              </a:ext>
            </a:extLst>
          </p:cNvPr>
          <p:cNvGrpSpPr/>
          <p:nvPr/>
        </p:nvGrpSpPr>
        <p:grpSpPr>
          <a:xfrm>
            <a:off x="7963085" y="3851939"/>
            <a:ext cx="431528" cy="469823"/>
            <a:chOff x="4764591" y="4082604"/>
            <a:chExt cx="431528" cy="469823"/>
          </a:xfrm>
        </p:grpSpPr>
        <p:sp>
          <p:nvSpPr>
            <p:cNvPr id="144" name="Triangle 143">
              <a:extLst>
                <a:ext uri="{FF2B5EF4-FFF2-40B4-BE49-F238E27FC236}">
                  <a16:creationId xmlns:a16="http://schemas.microsoft.com/office/drawing/2014/main" id="{FADFEF30-921E-1642-7712-90C4473546AC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AC045ED3-1EAA-844E-4B31-91F09207D06B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12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178B84E-8447-6DAE-23B8-2A67D00449F0}"/>
              </a:ext>
            </a:extLst>
          </p:cNvPr>
          <p:cNvGrpSpPr/>
          <p:nvPr/>
        </p:nvGrpSpPr>
        <p:grpSpPr>
          <a:xfrm>
            <a:off x="1817712" y="578141"/>
            <a:ext cx="8471452" cy="1706632"/>
            <a:chOff x="1160488" y="635860"/>
            <a:chExt cx="9313848" cy="170345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2D2F47F-086F-6219-F7FC-E36AB4787E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35989"/>
            <a:stretch/>
          </p:blipFill>
          <p:spPr>
            <a:xfrm>
              <a:off x="1160488" y="635860"/>
              <a:ext cx="9313848" cy="167509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3845AC8-53BD-4772-4EE5-EB52F2410962}"/>
                </a:ext>
              </a:extLst>
            </p:cNvPr>
            <p:cNvSpPr/>
            <p:nvPr/>
          </p:nvSpPr>
          <p:spPr>
            <a:xfrm>
              <a:off x="6516293" y="2128447"/>
              <a:ext cx="1648393" cy="1927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BC91084E-61EB-7D94-E634-948EA370AB93}"/>
                </a:ext>
              </a:extLst>
            </p:cNvPr>
            <p:cNvSpPr/>
            <p:nvPr/>
          </p:nvSpPr>
          <p:spPr>
            <a:xfrm>
              <a:off x="4306604" y="2132650"/>
              <a:ext cx="2055654" cy="2050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6FD3DDF-8E81-7BAF-237C-DE0E12C17089}"/>
                </a:ext>
              </a:extLst>
            </p:cNvPr>
            <p:cNvSpPr/>
            <p:nvPr/>
          </p:nvSpPr>
          <p:spPr>
            <a:xfrm>
              <a:off x="3042864" y="2124524"/>
              <a:ext cx="1153297" cy="196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C1A8261-CF23-B941-C3DB-92E7F6F57A52}"/>
                </a:ext>
              </a:extLst>
            </p:cNvPr>
            <p:cNvSpPr/>
            <p:nvPr/>
          </p:nvSpPr>
          <p:spPr>
            <a:xfrm>
              <a:off x="1557222" y="2081850"/>
              <a:ext cx="1153297" cy="2574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</p:grpSp>
      <p:pic>
        <p:nvPicPr>
          <p:cNvPr id="157" name="Picture 156">
            <a:extLst>
              <a:ext uri="{FF2B5EF4-FFF2-40B4-BE49-F238E27FC236}">
                <a16:creationId xmlns:a16="http://schemas.microsoft.com/office/drawing/2014/main" id="{E71E68E4-0912-D011-DE16-5D055623CF5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33610"/>
          <a:stretch/>
        </p:blipFill>
        <p:spPr>
          <a:xfrm>
            <a:off x="1961383" y="2223883"/>
            <a:ext cx="8325298" cy="1544595"/>
          </a:xfrm>
          <a:prstGeom prst="rect">
            <a:avLst/>
          </a:prstGeom>
        </p:spPr>
      </p:pic>
      <p:sp>
        <p:nvSpPr>
          <p:cNvPr id="159" name="Rectangle 158">
            <a:extLst>
              <a:ext uri="{FF2B5EF4-FFF2-40B4-BE49-F238E27FC236}">
                <a16:creationId xmlns:a16="http://schemas.microsoft.com/office/drawing/2014/main" id="{1EBB0AD9-3180-FCC1-A6F3-0410DA151AE3}"/>
              </a:ext>
            </a:extLst>
          </p:cNvPr>
          <p:cNvSpPr/>
          <p:nvPr/>
        </p:nvSpPr>
        <p:spPr>
          <a:xfrm>
            <a:off x="6905727" y="3585338"/>
            <a:ext cx="1499303" cy="193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3276A1E-95BA-C103-497B-D66E746360CF}"/>
              </a:ext>
            </a:extLst>
          </p:cNvPr>
          <p:cNvSpPr/>
          <p:nvPr/>
        </p:nvSpPr>
        <p:spPr>
          <a:xfrm>
            <a:off x="5461063" y="3626083"/>
            <a:ext cx="1277492" cy="1443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531781F-6C47-68E8-8863-67EC3DF485D8}"/>
              </a:ext>
            </a:extLst>
          </p:cNvPr>
          <p:cNvSpPr/>
          <p:nvPr/>
        </p:nvSpPr>
        <p:spPr>
          <a:xfrm>
            <a:off x="3728477" y="3656079"/>
            <a:ext cx="1277492" cy="1443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2871024-EF1D-5326-2590-6D73502BC868}"/>
              </a:ext>
            </a:extLst>
          </p:cNvPr>
          <p:cNvSpPr/>
          <p:nvPr/>
        </p:nvSpPr>
        <p:spPr>
          <a:xfrm>
            <a:off x="2103840" y="3610753"/>
            <a:ext cx="1277492" cy="1443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44FF819A-4090-64B0-0080-0D0FB19AE8FB}"/>
              </a:ext>
            </a:extLst>
          </p:cNvPr>
          <p:cNvCxnSpPr>
            <a:cxnSpLocks/>
          </p:cNvCxnSpPr>
          <p:nvPr/>
        </p:nvCxnSpPr>
        <p:spPr>
          <a:xfrm>
            <a:off x="3455693" y="3798117"/>
            <a:ext cx="0" cy="11985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BF6B75B6-B1C6-8233-A1BD-760BDCB59730}"/>
              </a:ext>
            </a:extLst>
          </p:cNvPr>
          <p:cNvCxnSpPr>
            <a:cxnSpLocks/>
          </p:cNvCxnSpPr>
          <p:nvPr/>
        </p:nvCxnSpPr>
        <p:spPr>
          <a:xfrm>
            <a:off x="5423053" y="3819068"/>
            <a:ext cx="0" cy="11985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FDF8BB6E-6B28-8DCB-D0AC-4395FC097B6C}"/>
              </a:ext>
            </a:extLst>
          </p:cNvPr>
          <p:cNvCxnSpPr>
            <a:cxnSpLocks/>
          </p:cNvCxnSpPr>
          <p:nvPr/>
        </p:nvCxnSpPr>
        <p:spPr>
          <a:xfrm>
            <a:off x="6856299" y="3798117"/>
            <a:ext cx="0" cy="11985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32052AF5-AEC1-0227-2110-7EC143E876C3}"/>
              </a:ext>
            </a:extLst>
          </p:cNvPr>
          <p:cNvSpPr txBox="1"/>
          <p:nvPr/>
        </p:nvSpPr>
        <p:spPr>
          <a:xfrm>
            <a:off x="559418" y="2201240"/>
            <a:ext cx="130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 COA 2</a:t>
            </a:r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3863996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714</Words>
  <Application>Microsoft Macintosh PowerPoint</Application>
  <PresentationFormat>Widescreen</PresentationFormat>
  <Paragraphs>92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TH SarabunPSK</vt:lpstr>
      <vt:lpstr>ui-sans-serif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28.ภัทรภณ เอี่ยมพานิชกุล</dc:creator>
  <cp:lastModifiedBy>Microsoft Office User</cp:lastModifiedBy>
  <cp:revision>12</cp:revision>
  <dcterms:created xsi:type="dcterms:W3CDTF">2026-06-22T00:32:44Z</dcterms:created>
  <dcterms:modified xsi:type="dcterms:W3CDTF">2026-06-24T01:38:42Z</dcterms:modified>
</cp:coreProperties>
</file>