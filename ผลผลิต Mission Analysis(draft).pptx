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5018" r:id="rId3"/>
    <p:sldId id="5020" r:id="rId4"/>
    <p:sldId id="5021" r:id="rId5"/>
    <p:sldId id="5052" r:id="rId6"/>
    <p:sldId id="5053" r:id="rId7"/>
    <p:sldId id="5036" r:id="rId8"/>
    <p:sldId id="5035" r:id="rId9"/>
    <p:sldId id="5038" r:id="rId10"/>
    <p:sldId id="5039" r:id="rId11"/>
    <p:sldId id="5025" r:id="rId12"/>
    <p:sldId id="5028" r:id="rId13"/>
    <p:sldId id="5031" r:id="rId14"/>
    <p:sldId id="5032" r:id="rId15"/>
    <p:sldId id="5033" r:id="rId16"/>
    <p:sldId id="5034" r:id="rId17"/>
    <p:sldId id="5040" r:id="rId18"/>
    <p:sldId id="505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05" autoAdjust="0"/>
    <p:restoredTop sz="94646"/>
  </p:normalViewPr>
  <p:slideViewPr>
    <p:cSldViewPr snapToGrid="0">
      <p:cViewPr>
        <p:scale>
          <a:sx n="100" d="100"/>
          <a:sy n="100" d="100"/>
        </p:scale>
        <p:origin x="84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7ABAD2-B35A-456A-BAF0-50469D8021AA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B7742-511E-4695-B21E-8B09F4508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481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B2EAE-6F7B-1BDA-B79B-AEC9692D6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A61F4D64-127B-F705-E574-175E6CEAD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87A33D7F-1CD1-55AB-1534-2F77C5ED9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83590120-B7DC-776E-D339-F78CE7594A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2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494329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237DE-C048-E943-E05E-CF911370A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1F17519A-7DEB-D1A3-AA6A-26BB110BF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00639272-2468-E66A-6633-F6D62FF68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BC94ADF2-6AEA-D3FF-5E25-7C8BE21D39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3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670307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21AFF-83BA-3ACE-3096-1CCBB54D3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18503E2B-F99F-087F-EDE4-A97B37BA7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203EC8E5-4CAC-C962-2628-914B10A42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735B1B06-9D01-32BC-C298-1C899F2BA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4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608689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A287-19C8-BCFB-2680-19590F623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073F25AB-5592-0D5B-D694-FB9F283E9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B10083E4-681C-BCBC-1BEB-74CEB3E5D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F5577682-B071-AC80-1DF6-B0E6119DA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5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806557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F7A35-3379-AAA4-E0D8-6A011A569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A11D4C71-72BB-EA11-EC61-E815D3F5C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E0C97F9A-E5BF-D9E2-4A02-A87FC3FA5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28F0603E-7426-AD3C-18C7-7CC694AC1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6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1938395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C44C3-ADEB-2CB9-A13E-D45ADE025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3369F560-990F-230C-9009-55E0FC2BE3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84713B8F-E02C-D594-59E5-4E2B3122C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0410FB13-0CF0-C9CA-06E6-2312ACE63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7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834042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28EB9-677B-2ED3-EE8D-2C584F73B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DC8D0107-6CF4-1E11-1C7D-CAB5D887E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D3364CD4-9A5E-D6C6-89E8-FA36F2F8B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56A7A4F2-6BDD-4DFA-636D-D35FB8469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8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6869541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FAD45-37CF-8791-A632-0C7FDC684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A2000E16-5B6E-3CF1-C668-8813A560E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65C20FD5-86CD-6CB3-7F02-15DD6F0E7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9C16A97B-E690-E7C5-02D6-CD32A2F24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9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56984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E5FBA-0313-35C8-CA9A-D34F16753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AD1D4361-E82B-9370-FFF6-01108015C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1A5F5D5C-1852-66C1-162D-E6DD85D71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D50F2B2D-59D3-3C18-361C-FA4C9F2BE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10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8710279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D41C1-1630-BCFD-6648-3E2BB7EA4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8F613BC3-ED88-E720-6AF6-B5E05233C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445E8014-46EA-8A10-272C-122BC14B9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6667D439-42C5-17C4-BF70-01721719B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11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9244464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4AFAB-976F-C8F2-F9CC-98CBEE14B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C8827BC9-40BB-D6A7-44AF-F1FE18CBD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D3BA6BFC-D0D7-91EC-354C-FDCC566D6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4FB33374-82C5-3D3A-5AF7-781C0C6832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12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8093298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98A32-73A4-889D-AC01-21CD6543D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5D48BDFB-FEE3-5BC3-198E-5874ED6E9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F4E83F27-669A-AF71-0E4C-2B5BA4513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DB9321F8-68DB-673F-C175-1A4334BAAF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13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9207785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AF9C9-C8DF-150F-4C3F-9C1BD2FA6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F5647017-A077-AD5C-9624-9ACFB4DD7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39F3AE98-69DA-EF31-8486-2095D8B28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B08546C7-33AC-3E53-2614-FEE57A61FE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14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3288610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83526-56A9-615F-758F-3A0A75FDE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78599713-78E9-6DA2-A64D-8FD03D9D4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4DDE963F-C4DA-0E60-DC87-2CEB742C6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4EE489A1-27AC-2D56-EE4F-D77FCBCB8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15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0239478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ED649-B8DB-DE26-1195-8A73958CA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532B1CD2-7BE9-0F63-AE65-61ADADB8F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51C681D1-5DE5-C07D-4D71-7956CE666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63588524-9704-4204-2B5B-841D64F5F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16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6000399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DCE0B-5253-C568-CF7C-E8B1E2424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651F0120-6CC6-84F6-8A79-D9DADDBEB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102BEF43-CE81-D76C-AEE2-1F215DF17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b="1" dirty="0"/>
              <a:t>๓. การประเมินความเสี่ยงเบื้องต้นขาดการจัดระดับความรุนแรง </a:t>
            </a:r>
            <a:endParaRPr lang="en-US" dirty="0"/>
          </a:p>
          <a:p>
            <a:r>
              <a:rPr lang="th-TH" dirty="0"/>
              <a:t>อ้างอิงตาม </a:t>
            </a:r>
            <a:r>
              <a:rPr lang="th-TH" dirty="0" err="1"/>
              <a:t>อทร</a:t>
            </a:r>
            <a:r>
              <a:rPr lang="th-TH" dirty="0"/>
              <a:t>.๘๓๐๗ การประเมินความเสี่ยงเบื้องต้น ฝ่ายเสนาธิการต้องวิเคราะห์ความเสี่ยงในการไม่บรรลุภารกิจจากปัจจัยต่างๆ เช่น ความเพียงพอของกำลังรบ ระยะเวลา และข้อจำกัดต่างๆ โดยหลักการประเมินจะต้องพิจารณาจากโอกาสที่จะเกิดความเสี่ยงขึ้น และผลกระทบจากความเสี่ยงนั้นต่อความสำเร็จของภารกิจหรือระดับของความเสี่ยงนั้นๆ เพื่อหาแนวทางบริหารจัดการและกำหนดระดับความเสี่ยงที่ผู้บังคับบัญชาสามารถยอมรับได้ ในเอกสารกลุ่ม ๕ ได้มีการระบุความเสี่ยงเบื้องต้นไว้แล้ว แต่ขาดกระบวนการประเมินระดับความเสี่ยงอย่างเป็นระบบ การนำเสนอเพียงรายการความเสี่ยงโดยไม่ประเมินโอกาสเกิดและผลกระทบ ทำให้ผู้บังคับบัญชาไม่สามารถจัดลำดับความเร่งด่วนในการตัดสินใจรับความเสี่ยงหรือสั่งการให้หามาตรการลดความเสี่ยงได้ </a:t>
            </a:r>
            <a:endParaRPr lang="en-US" dirty="0"/>
          </a:p>
          <a:p>
            <a:r>
              <a:rPr lang="th-TH" u="sng" dirty="0"/>
              <a:t>ข้อเสนอแนะ</a:t>
            </a:r>
            <a:r>
              <a:rPr lang="th-TH" dirty="0"/>
              <a:t> ควรปรับปรุงตารางหรือหัวข้อการประเมินความเสี่ยงเบื้องต้น โดยนำความเสี่ยงแต่ละข้อมาประเมินร่วมกับเกณฑ์โอกาสที่จะเกิดและเกณฑ์ผลกระทบ เพื่อจัดระดับความเสี่ยงออกมาให้ชัดเจน เช่น ระดับสูง ปานกลาง หรือต่ำ พร้อมทั้งเสนอแนะมาตรการลดความเสี่ยงเบื้องต้นกำกับไว้ในแต่ละประเด็น</a:t>
            </a:r>
            <a:endParaRPr lang="en-US" dirty="0"/>
          </a:p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5B88ECAD-C5D2-4347-B132-F6197DC8E8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17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1282510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DCE0B-5253-C568-CF7C-E8B1E2424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651F0120-6CC6-84F6-8A79-D9DADDBEB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102BEF43-CE81-D76C-AEE2-1F215DF17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b="1" dirty="0"/>
              <a:t>๓. การประเมินความเสี่ยงเบื้องต้นขาดการจัดระดับความรุนแรง </a:t>
            </a:r>
            <a:endParaRPr lang="en-US" dirty="0"/>
          </a:p>
          <a:p>
            <a:r>
              <a:rPr lang="th-TH" dirty="0"/>
              <a:t>อ้างอิงตาม </a:t>
            </a:r>
            <a:r>
              <a:rPr lang="th-TH" dirty="0" err="1"/>
              <a:t>อทร</a:t>
            </a:r>
            <a:r>
              <a:rPr lang="th-TH" dirty="0"/>
              <a:t>.๘๓๐๗ การประเมินความเสี่ยงเบื้องต้น ฝ่ายเสนาธิการต้องวิเคราะห์ความเสี่ยงในการไม่บรรลุภารกิจจากปัจจัยต่างๆ เช่น ความเพียงพอของกำลังรบ ระยะเวลา และข้อจำกัดต่างๆ โดยหลักการประเมินจะต้องพิจารณาจากโอกาสที่จะเกิดความเสี่ยงขึ้น และผลกระทบจากความเสี่ยงนั้นต่อความสำเร็จของภารกิจหรือระดับของความเสี่ยงนั้นๆ เพื่อหาแนวทางบริหารจัดการและกำหนดระดับความเสี่ยงที่ผู้บังคับบัญชาสามารถยอมรับได้ ในเอกสารกลุ่ม ๕ ได้มีการระบุความเสี่ยงเบื้องต้นไว้แล้ว แต่ขาดกระบวนการประเมินระดับความเสี่ยงอย่างเป็นระบบ การนำเสนอเพียงรายการความเสี่ยงโดยไม่ประเมินโอกาสเกิดและผลกระทบ ทำให้ผู้บังคับบัญชาไม่สามารถจัดลำดับความเร่งด่วนในการตัดสินใจรับความเสี่ยงหรือสั่งการให้หามาตรการลดความเสี่ยงได้ </a:t>
            </a:r>
            <a:endParaRPr lang="en-US" dirty="0"/>
          </a:p>
          <a:p>
            <a:r>
              <a:rPr lang="th-TH" u="sng" dirty="0"/>
              <a:t>ข้อเสนอแนะ</a:t>
            </a:r>
            <a:r>
              <a:rPr lang="th-TH" dirty="0"/>
              <a:t> ควรปรับปรุงตารางหรือหัวข้อการประเมินความเสี่ยงเบื้องต้น โดยนำความเสี่ยงแต่ละข้อมาประเมินร่วมกับเกณฑ์โอกาสที่จะเกิดและเกณฑ์ผลกระทบ เพื่อจัดระดับความเสี่ยงออกมาให้ชัดเจน เช่น ระดับสูง ปานกลาง หรือต่ำ พร้อมทั้งเสนอแนะมาตรการลดความเสี่ยงเบื้องต้นกำกับไว้ในแต่ละประเด็น</a:t>
            </a:r>
            <a:endParaRPr lang="en-US" dirty="0"/>
          </a:p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5B88ECAD-C5D2-4347-B132-F6197DC8E8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18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708121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1679BD9-2474-D965-9C4D-4040F72B0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69321D74-BA96-F0DF-6B4D-63923F1D9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9D7C77DB-0891-EEC6-2CA6-CD16E2E93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7B09-E690-4F04-A746-6D0C53BA365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BC10F8E4-F516-D9DA-0903-39741A657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F061B2EF-8D76-5F0F-42BB-A13A2E480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A2027-7099-40CF-8740-D1CC0B4C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66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F8BF3F0-8303-0EA1-2A8A-318B71940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83890EE-10E9-F8B0-79C4-C18F25D6F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E6B18004-2F67-097B-4E9F-91DA645D5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7B09-E690-4F04-A746-6D0C53BA365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5AB8F2DB-45A8-E084-8E43-90CBA0556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2C37F4ED-BCAD-8B0E-082D-901D129AE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A2027-7099-40CF-8740-D1CC0B4C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091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AC86772-15B3-A52B-9F7F-0FE716203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444A6174-904D-906A-19C8-71BD02A94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E7726BDA-EAAC-A82D-1EED-472622A2F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7B09-E690-4F04-A746-6D0C53BA365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FF74C2A0-11BE-36AB-02C5-3419CD320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B4072D35-D29E-C3FC-4100-1F079846B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A2027-7099-40CF-8740-D1CC0B4C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149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9E3659C-6C05-2865-F57D-D949A6AD3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89D61FD-6BDA-A37A-1AEC-26C4AC8AF4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1AE5957C-D39A-062A-20CA-6A3E5043C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9C2BC62F-9AF1-9A7C-9983-1FC0C6427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7B09-E690-4F04-A746-6D0C53BA365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36554DA7-A75E-6825-0A46-3906AA563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7564F2A9-B9FC-6232-03E3-9384A8290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A2027-7099-40CF-8740-D1CC0B4C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4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1FECC98-B5D9-C459-0A73-AD6BB8488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D9331DD6-7264-92DB-EA79-081CDCBD1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1E26B1EC-2E66-2C52-6B4A-39CED61157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351886A0-C5EB-D1D6-BC8C-E64782D16B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B1A9E32C-C197-2867-D6C9-CB6D048588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42BCA931-C8BB-5600-4A30-0F225169E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7B09-E690-4F04-A746-6D0C53BA365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14966AD7-2AC8-C957-9B39-F9500D639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3E4A9D4C-40CE-4D4B-494A-5B19BE4EF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A2027-7099-40CF-8740-D1CC0B4C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490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A6626F9-7193-0F63-FECA-B2777C48B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C667ADE8-9FB2-3834-D8E8-C854BE0B0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7B09-E690-4F04-A746-6D0C53BA365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ED26733B-F9EB-5D0B-3D9D-D663F7B2B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D3D056DC-846E-A9F3-5B8A-46DA28C3A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A2027-7099-40CF-8740-D1CC0B4C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19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EB7AAF8D-B6D0-3D3B-EAE1-34D96E37B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7B09-E690-4F04-A746-6D0C53BA365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AC6E2B29-2DE8-CD43-14C8-886A95FE0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35476BDA-8806-7BB3-242E-86F11BB9C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A2027-7099-40CF-8740-D1CC0B4C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65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1347821-1F97-14E0-EA88-7F427D100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67D47E0C-9073-B54D-B320-2FEB1A507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61804320-1E0A-CD4C-CAE9-E2088D2EE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196C5B8E-8F03-B2C7-0A9E-73AA5622E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7B09-E690-4F04-A746-6D0C53BA365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219BBE9C-0374-71E0-F76B-4CC0D68D3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19CD5B54-6173-6D08-AC61-8FB454A58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A2027-7099-40CF-8740-D1CC0B4C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8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DAB619CF-B535-645C-49EF-A3BF1649D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65D9D825-9D06-9269-92F2-2011809A64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8D7C2D79-0C25-80B7-7F04-9B5FDD545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1B277751-8A1D-59A8-CED4-FC7BC277D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7B09-E690-4F04-A746-6D0C53BA365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AE3AFA70-BBD6-E519-0BF1-04EC54347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93351BDA-7910-6428-39C6-5108F1A3A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A2027-7099-40CF-8740-D1CC0B4C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392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471AA0B-58BE-6792-0545-D6CE61651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AECBFD85-B332-A636-90BF-8CA12DE9EA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21B1230B-9E36-4C64-41DB-1472FAB42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7B09-E690-4F04-A746-6D0C53BA365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73A0583D-871D-B246-CE82-EEE72F551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1237F411-5D69-A551-8FD4-6F0D020D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A2027-7099-40CF-8740-D1CC0B4C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711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6498C22A-CA38-1C72-9EB0-8E119682B5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0C86513C-FE74-5030-5F7A-CEE538AA89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E2735E37-53BD-48CF-FD1D-5EA12E4DA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7B09-E690-4F04-A746-6D0C53BA365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363363CD-7F67-E2EC-2F80-478D089BE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44B65BC0-2AA0-1F0D-BD27-35D10F9A2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A2027-7099-40CF-8740-D1CC0B4C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11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87C56-C5B8-7663-1D19-DE74579CF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CA8AB-EDBC-4B6E-9D32-5BE084537B4A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494CA-2AE2-45D7-52D0-BA6C7090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14595-2591-526A-FFB9-2CA2FC155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E7B6E-2186-43B8-855D-E06BA645CE3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ชื่อเรื่อง 1">
            <a:extLst>
              <a:ext uri="{FF2B5EF4-FFF2-40B4-BE49-F238E27FC236}">
                <a16:creationId xmlns:a16="http://schemas.microsoft.com/office/drawing/2014/main" id="{F15D65BC-C66B-4475-FF70-D658A9E45FBF}"/>
              </a:ext>
            </a:extLst>
          </p:cNvPr>
          <p:cNvSpPr txBox="1">
            <a:spLocks/>
          </p:cNvSpPr>
          <p:nvPr/>
        </p:nvSpPr>
        <p:spPr>
          <a:xfrm>
            <a:off x="0" y="2760"/>
            <a:ext cx="12192000" cy="1169219"/>
          </a:xfrm>
          <a:prstGeom prst="rect">
            <a:avLst/>
          </a:prstGeom>
          <a:solidFill>
            <a:srgbClr val="002060"/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th-TH" sz="60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PSK" pitchFamily="34" charset="-34"/>
              <a:cs typeface="TH SarabunPSK" pitchFamily="34" charset="-34"/>
            </a:endParaRPr>
          </a:p>
        </p:txBody>
      </p:sp>
      <p:pic>
        <p:nvPicPr>
          <p:cNvPr id="8" name="Picture 7" descr="A logo with a blue banner&#10;&#10;Description automatically generated">
            <a:extLst>
              <a:ext uri="{FF2B5EF4-FFF2-40B4-BE49-F238E27FC236}">
                <a16:creationId xmlns:a16="http://schemas.microsoft.com/office/drawing/2014/main" id="{1A6F4F3F-F8C4-65C4-C935-680EBD590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178" y="89318"/>
            <a:ext cx="1109822" cy="996102"/>
          </a:xfrm>
          <a:prstGeom prst="rect">
            <a:avLst/>
          </a:prstGeom>
        </p:spPr>
      </p:pic>
      <p:sp>
        <p:nvSpPr>
          <p:cNvPr id="9" name="Title 7">
            <a:extLst>
              <a:ext uri="{FF2B5EF4-FFF2-40B4-BE49-F238E27FC236}">
                <a16:creationId xmlns:a16="http://schemas.microsoft.com/office/drawing/2014/main" id="{E823ABA2-069A-1D4A-72A3-08EAAF937C0B}"/>
              </a:ext>
            </a:extLst>
          </p:cNvPr>
          <p:cNvSpPr txBox="1">
            <a:spLocks/>
          </p:cNvSpPr>
          <p:nvPr/>
        </p:nvSpPr>
        <p:spPr>
          <a:xfrm>
            <a:off x="1073066" y="1681803"/>
            <a:ext cx="11118933" cy="3846311"/>
          </a:xfrm>
          <a:prstGeom prst="rect">
            <a:avLst/>
          </a:prstGeom>
          <a:noFill/>
          <a:effectLst/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algn="l">
              <a:spcBef>
                <a:spcPts val="0"/>
              </a:spcBef>
              <a:spcAft>
                <a:spcPts val="0"/>
              </a:spcAft>
              <a:tabLst>
                <a:tab pos="685800" algn="l"/>
                <a:tab pos="914400" algn="l"/>
                <a:tab pos="1257300" algn="l"/>
                <a:tab pos="685800" algn="l"/>
                <a:tab pos="914400" algn="l"/>
                <a:tab pos="1093470" algn="l"/>
                <a:tab pos="1257300" algn="l"/>
              </a:tabLst>
            </a:pPr>
            <a:endParaRPr lang="th-TH" sz="4000" b="1" dirty="0">
              <a:effectLst/>
              <a:latin typeface="TH SarabunPSK" panose="020B0500040200020003" pitchFamily="34" charset="-34"/>
              <a:ea typeface="Cordia New" panose="020B0304020202020204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0007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BEDA0828-98DE-0038-C087-4E35587E3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7E1405E6-ED21-3D6C-6D77-044C25B3F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8678FC7B-5D36-F30F-62DB-041E12973E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A37B09-E690-4F04-A746-6D0C53BA365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AF5B340D-BE1F-693E-3DA2-70114128DA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803A18D5-7587-42CD-0642-EACA445A0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9A2027-7099-40CF-8740-D1CC0B4C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15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D03102C6-EC1C-5FE2-BD62-75A039F9E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216" y="0"/>
            <a:ext cx="4676989" cy="4698662"/>
          </a:xfrm>
          <a:prstGeom prst="rect">
            <a:avLst/>
          </a:prstGeom>
        </p:spPr>
      </p:pic>
      <p:sp>
        <p:nvSpPr>
          <p:cNvPr id="6" name="ชื่อเรื่อง 1">
            <a:extLst>
              <a:ext uri="{FF2B5EF4-FFF2-40B4-BE49-F238E27FC236}">
                <a16:creationId xmlns:a16="http://schemas.microsoft.com/office/drawing/2014/main" id="{FBE6BDE2-BB44-4183-2375-F96D18DFEB35}"/>
              </a:ext>
            </a:extLst>
          </p:cNvPr>
          <p:cNvSpPr txBox="1">
            <a:spLocks/>
          </p:cNvSpPr>
          <p:nvPr/>
        </p:nvSpPr>
        <p:spPr>
          <a:xfrm>
            <a:off x="677910" y="4681935"/>
            <a:ext cx="10515600" cy="8259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</a:t>
            </a:r>
            <a:r>
              <a:rPr lang="en-US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(Mission Analysis)</a:t>
            </a: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66407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59CEB-4C1E-843F-A485-9B1954BE4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613A6E37-67C1-9806-DC8C-61C2CD05348E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 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๒ ตรวจสอบข้อเท็จจริงในการวางแผน</a:t>
            </a:r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8A33AF13-310C-496D-A849-DB2F7306B5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225"/>
          <a:stretch>
            <a:fillRect/>
          </a:stretch>
        </p:blipFill>
        <p:spPr>
          <a:xfrm>
            <a:off x="0" y="1284667"/>
            <a:ext cx="3121011" cy="5573333"/>
          </a:xfrm>
          <a:prstGeom prst="rect">
            <a:avLst/>
          </a:prstGeom>
          <a:ln w="28575">
            <a:noFill/>
          </a:ln>
        </p:spPr>
      </p:pic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4B361D5D-0843-125C-E6CD-EBA22CD2E36A}"/>
              </a:ext>
            </a:extLst>
          </p:cNvPr>
          <p:cNvSpPr/>
          <p:nvPr/>
        </p:nvSpPr>
        <p:spPr>
          <a:xfrm>
            <a:off x="-1" y="1754372"/>
            <a:ext cx="3121011" cy="4565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227FD2C1-9C6B-8EB6-5EDB-C54B87005415}"/>
              </a:ext>
            </a:extLst>
          </p:cNvPr>
          <p:cNvSpPr txBox="1"/>
          <p:nvPr/>
        </p:nvSpPr>
        <p:spPr>
          <a:xfrm>
            <a:off x="3585829" y="1424939"/>
            <a:ext cx="809935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ที่มาของ</a:t>
            </a:r>
            <a:r>
              <a:rPr lang="en-US" sz="3200" b="1" i="0" u="sng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ภารกิจ</a:t>
            </a:r>
            <a:endParaRPr lang="th-TH" sz="3200" b="1" i="0" u="sng" dirty="0">
              <a:solidFill>
                <a:srgbClr val="000000"/>
              </a:solidFill>
              <a:effectLst/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sz="3200" b="0" i="0" u="sng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มาจากคำสั่งเบื้องต้นและคำสั่งนโยบายของ</a:t>
            </a:r>
            <a:r>
              <a:rPr lang="en-US" sz="3200" b="0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3200" b="0" i="0" u="sng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ศูนย์บัญชาการทางทหาร</a:t>
            </a:r>
            <a:r>
              <a:rPr lang="en-US" sz="3200" b="0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3200" b="0" i="0" u="sng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กองทัพ</a:t>
            </a:r>
            <a:r>
              <a:rPr lang="en-US" sz="3200" b="0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3200" b="0" i="0" u="sng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Alizaria</a:t>
            </a:r>
            <a:r>
              <a:rPr lang="en-US" sz="3200" b="0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(ศบท.AZ) </a:t>
            </a:r>
            <a:r>
              <a:rPr lang="en-US" sz="3200" b="0" i="0" u="sng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ภายใต้รหัส</a:t>
            </a:r>
            <a:r>
              <a:rPr lang="en-US" sz="3200" b="0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3200" b="1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"Operation Crimson Shield"</a:t>
            </a:r>
            <a:r>
              <a:rPr lang="en-US" sz="3200" b="0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3200" b="0" i="0" u="sng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ซึ่งสั่งการเมื่อ</a:t>
            </a:r>
            <a:r>
              <a:rPr lang="en-US" sz="3200" b="0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๕ </a:t>
            </a:r>
            <a:r>
              <a:rPr lang="en-US" sz="3200" b="0" i="0" u="sng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มิ.ย</a:t>
            </a:r>
            <a:r>
              <a:rPr lang="en-US" sz="3200" b="0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. ๒๐๒๖</a:t>
            </a:r>
            <a:endParaRPr lang="th-TH" sz="3200" b="0" i="0" u="sng" dirty="0">
              <a:solidFill>
                <a:srgbClr val="000000"/>
              </a:solidFill>
              <a:effectLst/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32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สั่งการให้กองทัพบก กองทัพเรือ และกองทัพอากาศ เตรียมการรองรับกรณีที่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WOADLAND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ใช้กำลัง โดยในขั้นต้นให้มีความพร้อมก่อนห้วงเดือน ก.ค.๒๐๒๖ และให้แต่ละเหล่าทัพดำเนินการจัดทำการเตรียมสภาพแวดล้อมทางยุทธการด้านข่าวกรอง (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IPOE)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ประมาณสถานการณ์ของผู้บังคับบัญชา และเริ่มวางแผนประณีต (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Deliberate Plan)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ที่รองรับทั้งสภาวะสงครามผสมผสาน/พื้นที่สีเทา และสงครามตามแบบควบคู่กัน ทั้งนี้ ให้กองทัพเรือถือเป็นความเร่งด่วนสูงสุดในการป้องกันและดำรงการครอบครองเกาะ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TALOS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ฝั่งใต้ พร้อมจัดทำแผนป้องกันเกาะ (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Island Defense)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แผนการส่งกำลังบำรุงต่อที่ตั้งโดดเดี่ยว และแผนตอบโต้/ยึดคืนกรณีถูกยึดครอง 	</a:t>
            </a:r>
          </a:p>
          <a:p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31455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55D17-98BA-6B95-3E98-58C6A62AC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5A707351-2FC9-10E2-A815-B429A1592374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 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๒ ตรวจสอบข้อเท็จจริงในการวางแผน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F4AE4EF4-110C-E2BD-7719-8FF600839B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225"/>
          <a:stretch>
            <a:fillRect/>
          </a:stretch>
        </p:blipFill>
        <p:spPr>
          <a:xfrm>
            <a:off x="0" y="1284667"/>
            <a:ext cx="3121011" cy="5573333"/>
          </a:xfrm>
          <a:prstGeom prst="rect">
            <a:avLst/>
          </a:prstGeom>
          <a:ln w="28575">
            <a:noFill/>
          </a:ln>
        </p:spPr>
      </p:pic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D4ED6EB0-19F7-ADBA-8497-1D9E940F9970}"/>
              </a:ext>
            </a:extLst>
          </p:cNvPr>
          <p:cNvSpPr/>
          <p:nvPr/>
        </p:nvSpPr>
        <p:spPr>
          <a:xfrm>
            <a:off x="0" y="2169060"/>
            <a:ext cx="3121011" cy="10738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DE2D67A0-DE94-94A4-FB97-1680D889B31F}"/>
              </a:ext>
            </a:extLst>
          </p:cNvPr>
          <p:cNvSpPr txBox="1"/>
          <p:nvPr/>
        </p:nvSpPr>
        <p:spPr>
          <a:xfrm>
            <a:off x="3362293" y="1292495"/>
            <a:ext cx="8056821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ภารกิจของ ศบท.</a:t>
            </a:r>
            <a:endParaRPr lang="th-TH" sz="3600" b="0" i="0" u="none" strike="noStrike" baseline="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กองทัพ </a:t>
            </a:r>
            <a:r>
              <a:rPr lang="en-US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ALIZARIA </a:t>
            </a:r>
            <a:r>
              <a:rPr lang="th-TH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จะส่งก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ำ</a:t>
            </a:r>
            <a:r>
              <a:rPr lang="th-TH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ลังทางบก สนับสนุนด้วยกำลังทางอากาศ เข้า</a:t>
            </a:r>
            <a:r>
              <a:rPr lang="th-TH" sz="2400" b="0" i="0" u="none" strike="noStrike" baseline="0" dirty="0">
                <a:highlight>
                  <a:srgbClr val="00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ป้องกันการยึดพื้น</a:t>
            </a:r>
            <a:r>
              <a:rPr lang="th-TH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ที่เพิ่มเติมเมื่อกองทัพ </a:t>
            </a:r>
            <a:r>
              <a:rPr lang="en-US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WOADLAND</a:t>
            </a:r>
            <a:r>
              <a:rPr lang="th-TH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เคลื่อนกำลังทางบกเข้ามายึดพื้นที่ทับซ้อน </a:t>
            </a:r>
            <a:r>
              <a:rPr lang="en-US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VENTIMIGLIA</a:t>
            </a:r>
            <a:endParaRPr lang="th-TH" sz="2400" b="0" i="0" u="none" strike="noStrike" baseline="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และ ส่งกำลังทางเรือ สนับสนุนด้วยกำลังทางอากาศเข้า</a:t>
            </a:r>
            <a:r>
              <a:rPr lang="th-TH" sz="2400" b="0" i="0" u="none" strike="noStrike" baseline="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ปฏิบัติการสะเทินน้ำสะเทินบก </a:t>
            </a:r>
            <a:r>
              <a:rPr lang="th-TH" sz="2400" b="0" i="0" u="none" strike="noStrike" baseline="0" dirty="0">
                <a:highlight>
                  <a:srgbClr val="00FFFF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ส่งผ่านกำลังทางบก</a:t>
            </a:r>
            <a:r>
              <a:rPr lang="th-TH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จำนวน ๑ กรม ร. เพิ่มเติมกำลัง เพื่อยึดเกาะ </a:t>
            </a:r>
            <a:r>
              <a:rPr lang="en-US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TALOS </a:t>
            </a:r>
            <a:r>
              <a:rPr lang="th-TH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ฝั่งเหนือสำหรับนำมาใช้เจรจาต่อรองทางการเมืองในการแลกเปลี่ยนการยึดพื้นที่ทับซ้อน </a:t>
            </a:r>
            <a:r>
              <a:rPr lang="en-US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VENTIMIGLIA</a:t>
            </a:r>
            <a:r>
              <a:rPr lang="th-TH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ของกองทัพ </a:t>
            </a:r>
            <a:r>
              <a:rPr lang="en-US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WOADLAND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FE0CBD30-2382-BDA0-547F-0A48C0692B8A}"/>
              </a:ext>
            </a:extLst>
          </p:cNvPr>
          <p:cNvSpPr txBox="1"/>
          <p:nvPr/>
        </p:nvSpPr>
        <p:spPr>
          <a:xfrm>
            <a:off x="3518127" y="4488287"/>
            <a:ext cx="790098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0" i="0" u="none" strike="noStrike" baseline="0" dirty="0">
                <a:highlight>
                  <a:srgbClr val="00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ป้องกันการยึดพื้น</a:t>
            </a:r>
            <a:r>
              <a:rPr lang="th-TH" sz="32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sz="3200" b="1" i="0" u="sng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สนับสนุน</a:t>
            </a:r>
          </a:p>
          <a:p>
            <a:r>
              <a:rPr lang="th-TH" sz="3200" dirty="0">
                <a:highlight>
                  <a:srgbClr val="00FFFF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ส่งผ่านกำลังทางบกโดยการปฏิบัติการยุทธ์สะเทินน้ำสะเทินบก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2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สนับสนุน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11168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39AA8-5576-C961-02E0-30DEBB723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668752A1-A95B-1835-5C52-7A11A2088C93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 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๒ ตรวจสอบข้อเท็จจริงในการวางแผน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867AC451-B3DE-531D-28B9-10757CC36A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225"/>
          <a:stretch>
            <a:fillRect/>
          </a:stretch>
        </p:blipFill>
        <p:spPr>
          <a:xfrm>
            <a:off x="0" y="1284667"/>
            <a:ext cx="3121011" cy="5573333"/>
          </a:xfrm>
          <a:prstGeom prst="rect">
            <a:avLst/>
          </a:prstGeom>
          <a:ln w="28575">
            <a:noFill/>
          </a:ln>
        </p:spPr>
      </p:pic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A015E2C8-2670-FAD7-873C-A8EAEEDAD368}"/>
              </a:ext>
            </a:extLst>
          </p:cNvPr>
          <p:cNvSpPr/>
          <p:nvPr/>
        </p:nvSpPr>
        <p:spPr>
          <a:xfrm>
            <a:off x="0" y="3684891"/>
            <a:ext cx="3121011" cy="7488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FB5AF95E-5477-8130-DABA-2497051626CB}"/>
              </a:ext>
            </a:extLst>
          </p:cNvPr>
          <p:cNvSpPr txBox="1"/>
          <p:nvPr/>
        </p:nvSpPr>
        <p:spPr>
          <a:xfrm>
            <a:off x="-661988" y="1612510"/>
            <a:ext cx="80343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8" name="ตาราง 7">
            <a:extLst>
              <a:ext uri="{FF2B5EF4-FFF2-40B4-BE49-F238E27FC236}">
                <a16:creationId xmlns:a16="http://schemas.microsoft.com/office/drawing/2014/main" id="{2F3017F0-F34A-FAC5-2957-38B06D6C4044}"/>
              </a:ext>
            </a:extLst>
          </p:cNvPr>
          <p:cNvGraphicFramePr>
            <a:graphicFrameLocks noGrp="1"/>
          </p:cNvGraphicFramePr>
          <p:nvPr/>
        </p:nvGraphicFramePr>
        <p:xfrm>
          <a:off x="3214227" y="1284667"/>
          <a:ext cx="8890688" cy="5543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0688">
                  <a:extLst>
                    <a:ext uri="{9D8B030D-6E8A-4147-A177-3AD203B41FA5}">
                      <a16:colId xmlns:a16="http://schemas.microsoft.com/office/drawing/2014/main" val="2807016527"/>
                    </a:ext>
                  </a:extLst>
                </a:gridCol>
              </a:tblGrid>
              <a:tr h="1579733">
                <a:tc>
                  <a:txBody>
                    <a:bodyPr/>
                    <a:lstStyle/>
                    <a:p>
                      <a:r>
                        <a:rPr lang="th-TH" sz="2800" b="1" i="0" u="sng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มุ่งประสงค์ </a:t>
                      </a:r>
                    </a:p>
                    <a:p>
                      <a:r>
                        <a:rPr lang="th-TH" sz="2400" b="1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เพื่อป้องกันการยึดพื้นที่เพิ่มเติมของกำลังทางบก </a:t>
                      </a:r>
                      <a:r>
                        <a:rPr lang="en-US" sz="24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WOADLAND </a:t>
                      </a:r>
                      <a:r>
                        <a:rPr lang="th-TH" sz="24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บริเวณรอบพื้นที่ทับซ้อน </a:t>
                      </a:r>
                      <a:r>
                        <a:rPr lang="en-US" sz="2400" b="0" i="0" u="none" strike="noStrike" baseline="0" dirty="0" err="1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Vetimigia</a:t>
                      </a:r>
                      <a:r>
                        <a:rPr lang="en-US" sz="24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24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และเพื่อยึดครองเกาะ </a:t>
                      </a:r>
                      <a:r>
                        <a:rPr lang="en-US" sz="24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</a:t>
                      </a:r>
                      <a:r>
                        <a:rPr lang="th-TH" sz="24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ด้านเหนือ สำหรับนำมาใช้เจรจาต่อรองทางการเมืองในการแลกเปลี่ยนการยึดพื้นที่ทับซ้อน </a:t>
                      </a:r>
                      <a:r>
                        <a:rPr lang="en-US" sz="24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VENTIMIGLIA</a:t>
                      </a:r>
                      <a:r>
                        <a:rPr lang="th-TH" sz="24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ของกองทัพ </a:t>
                      </a:r>
                      <a:r>
                        <a:rPr lang="en-US" sz="24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WOADLAND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552856"/>
                  </a:ext>
                </a:extLst>
              </a:tr>
              <a:tr h="1947112">
                <a:tc>
                  <a:txBody>
                    <a:bodyPr/>
                    <a:lstStyle/>
                    <a:p>
                      <a:r>
                        <a:rPr lang="th-TH" sz="2800" b="1" i="0" u="sng" strike="noStrike" baseline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วิธีการ</a:t>
                      </a:r>
                    </a:p>
                    <a:p>
                      <a:r>
                        <a:rPr lang="th-TH" sz="2400" b="1" i="0" u="none" strike="noStrike" baseline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ให้กองทัพ </a:t>
                      </a:r>
                      <a:r>
                        <a:rPr lang="en-US" sz="2400" b="0" i="0" u="none" strike="noStrike" baseline="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Alizaria</a:t>
                      </a:r>
                      <a:r>
                        <a:rPr lang="en-US" sz="2400" b="0" i="0" u="none" strike="noStrike" baseline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2400" b="0" i="0" u="none" strike="noStrike" baseline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ปฏิบัติการในพื้นที่ต่างๆ </a:t>
                      </a:r>
                      <a:r>
                        <a:rPr lang="th-TH" sz="2400" b="1" i="0" u="none" strike="noStrike" baseline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โดยใช้การโจมตีตามแบบแผน โดยเน้นการบูรณาการของทั้ง ๓ เหล่าทัพจำกัดการสูญเสียของกำลังพล และผลกระทบต่อประชาชนในพื้นที่ โดย </a:t>
                      </a:r>
                      <a:r>
                        <a:rPr lang="en-US" sz="2400" b="0" i="0" u="none" strike="noStrike" baseline="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Alizalia</a:t>
                      </a:r>
                      <a:r>
                        <a:rPr lang="en-US" sz="2400" b="0" i="0" u="none" strike="noStrike" baseline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2400" b="0" i="0" u="none" strike="noStrike" baseline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จะต้องปฏิบัติการโดยอยู่ภายใต้สภาวะที่เหนือกว่า รวมทั้ง ตลอดการปฏิบัติการต้องได้รับการยอมรับจากนานาประเทศ และองค์กรระหว่างประเทศ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4612643"/>
                  </a:ext>
                </a:extLst>
              </a:tr>
              <a:tr h="1947112">
                <a:tc>
                  <a:txBody>
                    <a:bodyPr/>
                    <a:lstStyle/>
                    <a:p>
                      <a:r>
                        <a:rPr lang="th-TH" sz="2800" b="1" u="sng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สภาวะสุดท้ายที่ต้องการ</a:t>
                      </a:r>
                    </a:p>
                    <a:p>
                      <a:r>
                        <a:rPr lang="th-TH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กองทัพ 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AZ </a:t>
                      </a:r>
                      <a:r>
                        <a:rPr lang="th-TH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สามารถควบคุมพื้นที่สำคัญรอบ 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VENTIMIGLIA </a:t>
                      </a:r>
                      <a:r>
                        <a:rPr lang="th-TH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และ 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 </a:t>
                      </a:r>
                      <a:r>
                        <a:rPr lang="th-TH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ได้อย่างมั่นคง ผลักดันและจำกัดขีดความสามารถของ 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WOADLAND </a:t>
                      </a:r>
                      <a:r>
                        <a:rPr lang="th-TH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มิให้คุกคามพื้นที่พิพาท พร้อมรักษาเสรีในการปฏิบัติการของกำลังฝ่าย 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AZ </a:t>
                      </a:r>
                      <a:r>
                        <a:rPr lang="th-TH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เพื่อสนับสนุนการป้องกันประเทศและการดำเนินการของรัฐบาล</a:t>
                      </a:r>
                      <a:endParaRPr lang="en-US" sz="2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8611304"/>
                  </a:ext>
                </a:extLst>
              </a:tr>
            </a:tbl>
          </a:graphicData>
        </a:graphic>
      </p:graphicFrame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63003F6F-F8EF-3932-2CEE-A8F8A64854CD}"/>
              </a:ext>
            </a:extLst>
          </p:cNvPr>
          <p:cNvSpPr txBox="1"/>
          <p:nvPr/>
        </p:nvSpPr>
        <p:spPr>
          <a:xfrm>
            <a:off x="5573486" y="4960417"/>
            <a:ext cx="2634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(จุดสิ้นสุดการปฏิบัติการทางทหาร)</a:t>
            </a:r>
            <a:endParaRPr lang="en-US" dirty="0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851A560B-BCB6-78C7-E4C6-28E1EA728B2C}"/>
              </a:ext>
            </a:extLst>
          </p:cNvPr>
          <p:cNvSpPr txBox="1"/>
          <p:nvPr/>
        </p:nvSpPr>
        <p:spPr>
          <a:xfrm>
            <a:off x="3929742" y="2963298"/>
            <a:ext cx="409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(กลยุทธ์ในการบรรลุกิจสำคัญยิ่งที่ต้องปฏิบัติ)</a:t>
            </a:r>
            <a:endParaRPr lang="en-US" dirty="0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4377E404-98C7-06A6-A4EB-C579E3A415DC}"/>
              </a:ext>
            </a:extLst>
          </p:cNvPr>
          <p:cNvSpPr txBox="1"/>
          <p:nvPr/>
        </p:nvSpPr>
        <p:spPr>
          <a:xfrm>
            <a:off x="4365169" y="1343585"/>
            <a:ext cx="2634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(เหตุผลของการปฏิบัติการทางทหาร)</a:t>
            </a:r>
            <a:endParaRPr lang="en-US" dirty="0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82303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C422C-A205-A96A-A9F0-A26B8AF84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561917D9-FC0A-8E49-6E39-0E3DBC54AD52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 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๒ ตรวจสอบข้อเท็จจริงในการวางแผน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4A8BF16D-9191-BA18-A32C-12243DF8B9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225"/>
          <a:stretch>
            <a:fillRect/>
          </a:stretch>
        </p:blipFill>
        <p:spPr>
          <a:xfrm>
            <a:off x="1" y="1284667"/>
            <a:ext cx="2373086" cy="4735133"/>
          </a:xfrm>
          <a:prstGeom prst="rect">
            <a:avLst/>
          </a:prstGeom>
          <a:ln w="28575">
            <a:noFill/>
          </a:ln>
        </p:spPr>
      </p:pic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D74A4D5B-FC32-B509-EDAE-A5A23C6698AE}"/>
              </a:ext>
            </a:extLst>
          </p:cNvPr>
          <p:cNvSpPr/>
          <p:nvPr/>
        </p:nvSpPr>
        <p:spPr>
          <a:xfrm>
            <a:off x="1" y="3963730"/>
            <a:ext cx="2296886" cy="6518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ตาราง 5">
            <a:extLst>
              <a:ext uri="{FF2B5EF4-FFF2-40B4-BE49-F238E27FC236}">
                <a16:creationId xmlns:a16="http://schemas.microsoft.com/office/drawing/2014/main" id="{9A611D99-774B-4953-5D0B-8BEA6D72354C}"/>
              </a:ext>
            </a:extLst>
          </p:cNvPr>
          <p:cNvGraphicFramePr>
            <a:graphicFrameLocks noGrp="1"/>
          </p:cNvGraphicFramePr>
          <p:nvPr/>
        </p:nvGraphicFramePr>
        <p:xfrm>
          <a:off x="2499588" y="1192590"/>
          <a:ext cx="9364903" cy="5542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397">
                  <a:extLst>
                    <a:ext uri="{9D8B030D-6E8A-4147-A177-3AD203B41FA5}">
                      <a16:colId xmlns:a16="http://schemas.microsoft.com/office/drawing/2014/main" val="767892006"/>
                    </a:ext>
                  </a:extLst>
                </a:gridCol>
                <a:gridCol w="7096506">
                  <a:extLst>
                    <a:ext uri="{9D8B030D-6E8A-4147-A177-3AD203B41FA5}">
                      <a16:colId xmlns:a16="http://schemas.microsoft.com/office/drawing/2014/main" val="2299335453"/>
                    </a:ext>
                  </a:extLst>
                </a:gridCol>
              </a:tblGrid>
              <a:tr h="123735">
                <a:tc rowSpan="1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กิจเฉพาะ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(Specified Tasks)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</a:t>
                      </a:r>
                      <a:r>
                        <a:rPr lang="th-TH" sz="18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.การดำรงเสรีในการใช้ทะเลในพื้นที่ปฏิบัติการที่กำหนด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33268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2</a:t>
                      </a:r>
                      <a:r>
                        <a:rPr lang="th-TH" sz="18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.การควบคุมทะเลและปฏิเสธการใช้ทะเลของฝ่ายตรงข้าม เมื่อจำเป็น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76254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3</a:t>
                      </a:r>
                      <a:r>
                        <a:rPr lang="th-TH" sz="18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.การคุ้มครองเส้นทางคมนาคมทางทะเล และการขนส่งทางทะเลที่สำคัญ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36745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4</a:t>
                      </a:r>
                      <a:r>
                        <a:rPr lang="th-TH" sz="18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.การจำกัดขีดความสามารถของ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WOADLAND </a:t>
                      </a:r>
                      <a:r>
                        <a:rPr lang="th-TH" sz="18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ในการใช้กำลังทางทะเลคุกคามอธิปไตยและผลประโยชน์ของ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231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5</a:t>
                      </a:r>
                      <a:r>
                        <a:rPr lang="th-TH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.การป้องกันฐานทัพ ท่าเรือ พื้นที่ชายฝั่ง และโครงสร้างพื้นฐานทางทะเลที่สำคัญ</a:t>
                      </a:r>
                      <a:endParaRPr lang="en-US" sz="1800" b="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24353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6</a:t>
                      </a:r>
                      <a:r>
                        <a:rPr lang="th-TH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.การสนับสนุนการปฏิบัติการร่วม เพื่อรักษา </a:t>
                      </a:r>
                      <a:r>
                        <a:rPr lang="en-US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 </a:t>
                      </a:r>
                      <a:r>
                        <a:rPr lang="th-TH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และพื้นที่ </a:t>
                      </a:r>
                      <a:r>
                        <a:rPr lang="en-US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VENTIMIGLIA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574735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7</a:t>
                      </a:r>
                      <a:r>
                        <a:rPr lang="th-TH" sz="1800" b="0" i="0" kern="1200" dirty="0">
                          <a:solidFill>
                            <a:schemeClr val="dk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.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ควบคุมทะเล</a:t>
                      </a:r>
                      <a:r>
                        <a:rPr lang="th-TH" sz="1800" b="0" i="0" kern="1200" dirty="0">
                          <a:solidFill>
                            <a:schemeClr val="dk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บริเวณทิศเหนือเกาะ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TALOS</a:t>
                      </a:r>
                      <a:endParaRPr lang="en-US" sz="1800" b="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004427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8</a:t>
                      </a:r>
                      <a:r>
                        <a:rPr lang="th-TH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.ปฏิบัติการยุทธ์สะเทินน้ำสะเทินบก</a:t>
                      </a:r>
                      <a:endParaRPr lang="en-US" sz="1800" b="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64019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9</a:t>
                      </a:r>
                      <a:r>
                        <a:rPr lang="th-TH" sz="1800" b="0" strike="noStrike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.ส่งผ่านกำลังขนาด ๑ กรม ร. เสริมกำลังเกาะ </a:t>
                      </a:r>
                      <a:r>
                        <a:rPr lang="en-US" sz="1800" b="0" strike="noStrike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39977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10.ป้องกันการเสริมกำลังบนเกาะ </a:t>
                      </a:r>
                      <a:r>
                        <a:rPr lang="en-US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78573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11.ก่อวินาสกรรมบนเกาะ </a:t>
                      </a:r>
                      <a:r>
                        <a:rPr lang="en-US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1791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12.</a:t>
                      </a:r>
                      <a:r>
                        <a:rPr lang="th-TH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ลว.ป้องกันการยึดคืนของข้าศึก </a:t>
                      </a:r>
                      <a:r>
                        <a:rPr lang="en-US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02870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13.ดำรงการ กบ.ทางบกและทะเล</a:t>
                      </a:r>
                      <a:endParaRPr lang="en-US" sz="1800" b="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3555355"/>
                  </a:ext>
                </a:extLst>
              </a:tr>
              <a:tr h="364088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14.ติดตามหาข่าวความเคลื่อนไหวข้าศึก </a:t>
                      </a:r>
                      <a:endParaRPr lang="en-US" sz="1800" b="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7153374"/>
                  </a:ext>
                </a:extLst>
              </a:tr>
              <a:tr h="364088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15.คงกำลังบางส่วนในการสนับสนุนการเจรจา เฝ้าระวัง และรักษาความปลอดภัย</a:t>
                      </a:r>
                      <a:endParaRPr lang="en-US" sz="1800" b="0" dirty="0">
                        <a:highlight>
                          <a:srgbClr val="FFFF00"/>
                        </a:highlight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538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110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CB9A0-406D-7365-074E-EB7A89FE0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8179C375-DA22-3942-A4EB-D7C543FBABF8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 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๒ ตรวจสอบข้อเท็จจริงในการวางแผน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2AA575D6-2CF1-3B1B-CF80-36F4D8E434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225"/>
          <a:stretch>
            <a:fillRect/>
          </a:stretch>
        </p:blipFill>
        <p:spPr>
          <a:xfrm>
            <a:off x="1" y="1284667"/>
            <a:ext cx="2373086" cy="4735133"/>
          </a:xfrm>
          <a:prstGeom prst="rect">
            <a:avLst/>
          </a:prstGeom>
          <a:ln w="28575">
            <a:noFill/>
          </a:ln>
        </p:spPr>
      </p:pic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C10FF5CE-C890-CE6B-AF83-977A8AFF5B4C}"/>
              </a:ext>
            </a:extLst>
          </p:cNvPr>
          <p:cNvSpPr/>
          <p:nvPr/>
        </p:nvSpPr>
        <p:spPr>
          <a:xfrm>
            <a:off x="1" y="3963730"/>
            <a:ext cx="2296886" cy="6518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ตาราง 5">
            <a:extLst>
              <a:ext uri="{FF2B5EF4-FFF2-40B4-BE49-F238E27FC236}">
                <a16:creationId xmlns:a16="http://schemas.microsoft.com/office/drawing/2014/main" id="{917013CB-49EA-669E-E34C-3FD026650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795176"/>
              </p:ext>
            </p:extLst>
          </p:nvPr>
        </p:nvGraphicFramePr>
        <p:xfrm>
          <a:off x="2373087" y="1872343"/>
          <a:ext cx="9640314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6234">
                  <a:extLst>
                    <a:ext uri="{9D8B030D-6E8A-4147-A177-3AD203B41FA5}">
                      <a16:colId xmlns:a16="http://schemas.microsoft.com/office/drawing/2014/main" val="767892006"/>
                    </a:ext>
                  </a:extLst>
                </a:gridCol>
                <a:gridCol w="6814080">
                  <a:extLst>
                    <a:ext uri="{9D8B030D-6E8A-4147-A177-3AD203B41FA5}">
                      <a16:colId xmlns:a16="http://schemas.microsoft.com/office/drawing/2014/main" val="22993354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กิจแฝง</a:t>
                      </a:r>
                      <a:r>
                        <a:rPr lang="en-US" sz="2400" b="1" i="0" u="none" strike="noStrike" kern="1200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(Implied Tasks)</a:t>
                      </a:r>
                      <a:endParaRPr lang="en-US" sz="2400" dirty="0">
                        <a:solidFill>
                          <a:schemeClr val="tx1"/>
                        </a:solidFill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h-TH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1.ป้องกันทางปีกให้กับ กกล.ทบ. เมื่อกองทัพ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WOADLAND</a:t>
                      </a:r>
                      <a:r>
                        <a:rPr lang="th-TH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เคลื่อนกำลังทางบกเข้ามายึดพื้นที่ทับซ้อน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VENTIMIGLIA</a:t>
                      </a:r>
                      <a:endParaRPr lang="th-TH" sz="2400" b="0" dirty="0">
                        <a:solidFill>
                          <a:schemeClr val="tx1"/>
                        </a:solidFill>
                        <a:highlight>
                          <a:srgbClr val="00FF00"/>
                        </a:highlight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indent="0">
                        <a:buNone/>
                      </a:pPr>
                      <a:r>
                        <a:rPr lang="th-TH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2.เสริมกำลังป้องกันเกาะ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59533"/>
                  </a:ext>
                </a:extLst>
              </a:tr>
              <a:tr h="2567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b="1" u="sng" dirty="0">
                          <a:solidFill>
                            <a:srgbClr val="FF000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กิจสำคัญยิ่ง</a:t>
                      </a:r>
                      <a:r>
                        <a:rPr lang="en-US" sz="2400" b="1" i="0" u="sng" strike="noStrike" kern="1200" baseline="0" dirty="0">
                          <a:solidFill>
                            <a:srgbClr val="FF0000"/>
                          </a:solidFill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(Essential Tasks</a:t>
                      </a:r>
                      <a:r>
                        <a:rPr lang="en-US" sz="2400" b="1" i="0" u="none" strike="noStrike" kern="1200" baseline="0" dirty="0">
                          <a:solidFill>
                            <a:srgbClr val="FF0000"/>
                          </a:solidFill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)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1.ปฏิบัติการยุทธ์สะเทินน้ำสะเทินบกบนเกาะ </a:t>
                      </a:r>
                      <a:r>
                        <a:rPr lang="en-US" sz="24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</a:t>
                      </a:r>
                      <a:endParaRPr lang="th-TH" sz="2400" b="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2.ป้องกันทางปีกให้กับ กกล.ทบ. บริเวณพื้นที่ </a:t>
                      </a:r>
                      <a:r>
                        <a:rPr lang="en-US" sz="24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VELTIMIGLIA</a:t>
                      </a:r>
                      <a:endParaRPr lang="th-TH" sz="2400" b="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3.คุ้มครองเส้นทางคมนาคมทางทะเล และการขนส่งทางทะเลในพื้นที่ส่วนหลัง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2623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4353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43E49-865F-4FAE-F1BA-79710B067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1FEE0ED4-0EE0-0EA5-8CDE-7335D2179AD2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 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๒ ตรวจสอบข้อเท็จจริงในการวางแผน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9535F706-E87B-2CD4-96A4-2B20E93E31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225"/>
          <a:stretch>
            <a:fillRect/>
          </a:stretch>
        </p:blipFill>
        <p:spPr>
          <a:xfrm>
            <a:off x="1" y="1284667"/>
            <a:ext cx="2373086" cy="4735133"/>
          </a:xfrm>
          <a:prstGeom prst="rect">
            <a:avLst/>
          </a:prstGeom>
          <a:ln w="28575">
            <a:noFill/>
          </a:ln>
        </p:spPr>
      </p:pic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300B31FE-ECB3-10B0-0306-F8C3F08CDB48}"/>
              </a:ext>
            </a:extLst>
          </p:cNvPr>
          <p:cNvSpPr/>
          <p:nvPr/>
        </p:nvSpPr>
        <p:spPr>
          <a:xfrm>
            <a:off x="1" y="3963730"/>
            <a:ext cx="2296886" cy="6518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CE366647-36FA-256B-A07B-B3824AC64361}"/>
              </a:ext>
            </a:extLst>
          </p:cNvPr>
          <p:cNvSpPr txBox="1"/>
          <p:nvPr/>
        </p:nvSpPr>
        <p:spPr>
          <a:xfrm>
            <a:off x="3323813" y="3013501"/>
            <a:ext cx="3886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มุ่งประสงค์</a:t>
            </a:r>
            <a:endParaRPr lang="en-US" sz="2800" b="1" u="sng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AD4924FA-A716-4C75-802B-2BDD83C6C38B}"/>
              </a:ext>
            </a:extLst>
          </p:cNvPr>
          <p:cNvSpPr txBox="1"/>
          <p:nvPr/>
        </p:nvSpPr>
        <p:spPr>
          <a:xfrm>
            <a:off x="3323811" y="3652233"/>
            <a:ext cx="74203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กองทัพเรือ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ALIZARIA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จะสนับสนุนในการส่งผ่านกำลังทางบกเพื่อยึดเกาะ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TALOS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และสนับสนุนการป้องกันการยึดพื้นที่จากกองทัพ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WOADLAND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ในพื้นที่ทับซ้อน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VENTIMIGLIA</a:t>
            </a:r>
            <a:endParaRPr lang="th-TH" sz="2400" b="0" i="0" u="none" strike="noStrike" baseline="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99828A08-88EB-0AD3-0D69-3E277F9B6B49}"/>
              </a:ext>
            </a:extLst>
          </p:cNvPr>
          <p:cNvSpPr txBox="1"/>
          <p:nvPr/>
        </p:nvSpPr>
        <p:spPr>
          <a:xfrm>
            <a:off x="3323811" y="1742166"/>
            <a:ext cx="8198032" cy="954107"/>
          </a:xfrm>
          <a:prstGeom prst="rect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ป้องกันการยึดพื้น	</a:t>
            </a:r>
            <a:r>
              <a:rPr lang="th-TH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บทบาทสนับสนุน</a:t>
            </a:r>
          </a:p>
          <a:p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ส่งผ่านกำลังทางบกโดยการปฏิบัติการยุทธ์สะเทินน้ำสะเทินบก </a:t>
            </a:r>
            <a:r>
              <a:rPr lang="th-TH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บทบาทสนับสนุน </a:t>
            </a:r>
            <a:endParaRPr lang="en-US" sz="2800" b="1" u="sng" dirty="0"/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A90426EC-3FF2-167A-CFAF-23F350E07FFD}"/>
              </a:ext>
            </a:extLst>
          </p:cNvPr>
          <p:cNvSpPr/>
          <p:nvPr/>
        </p:nvSpPr>
        <p:spPr>
          <a:xfrm>
            <a:off x="3022600" y="3013501"/>
            <a:ext cx="7721600" cy="20156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487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46323-6D7E-3530-8F1E-E4EE08534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29A1C1BB-4A65-464B-20E6-CB57BA48CC06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๔ กำหนดภารกิจของหน่วย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BF7F9AEF-B24C-BDF5-3B6B-2820818D595F}"/>
              </a:ext>
            </a:extLst>
          </p:cNvPr>
          <p:cNvSpPr txBox="1"/>
          <p:nvPr/>
        </p:nvSpPr>
        <p:spPr>
          <a:xfrm>
            <a:off x="-12905" y="2497534"/>
            <a:ext cx="5040087" cy="1200329"/>
          </a:xfrm>
          <a:prstGeom prst="rect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th-TH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กิจสำคัญยิ่ง</a:t>
            </a:r>
            <a:endParaRPr lang="th-TH" dirty="0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1.ปฏิบัติการยุทธ์สะเทินน้ำสะเทินบกบนเกาะ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TALOS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2.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ป้องกันทางปีกให้กับ กกล.ทบ. บริเวณพื้นที่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VELTIMIGLIA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3.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คุ้มครองเส้นทางคมนาคมทางทะเล และการขนส่งทางทะเลในพื้นที่ส่วนหลัง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3C2BC45D-6BC7-1DA6-CE68-F195D5F3FFD5}"/>
              </a:ext>
            </a:extLst>
          </p:cNvPr>
          <p:cNvSpPr txBox="1"/>
          <p:nvPr/>
        </p:nvSpPr>
        <p:spPr>
          <a:xfrm>
            <a:off x="3298159" y="1967338"/>
            <a:ext cx="6172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ภารกิจ (กิจสำคัญยิ่ง + มุ่งประสงค์)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5W</a:t>
            </a:r>
          </a:p>
        </p:txBody>
      </p:sp>
      <p:graphicFrame>
        <p:nvGraphicFramePr>
          <p:cNvPr id="11" name="ตาราง 10">
            <a:extLst>
              <a:ext uri="{FF2B5EF4-FFF2-40B4-BE49-F238E27FC236}">
                <a16:creationId xmlns:a16="http://schemas.microsoft.com/office/drawing/2014/main" id="{01C0B6E0-1861-5624-6287-EBEF708898B4}"/>
              </a:ext>
            </a:extLst>
          </p:cNvPr>
          <p:cNvGraphicFramePr>
            <a:graphicFrameLocks noGrp="1"/>
          </p:cNvGraphicFramePr>
          <p:nvPr/>
        </p:nvGraphicFramePr>
        <p:xfrm>
          <a:off x="1559377" y="4063166"/>
          <a:ext cx="9203874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8894">
                  <a:extLst>
                    <a:ext uri="{9D8B030D-6E8A-4147-A177-3AD203B41FA5}">
                      <a16:colId xmlns:a16="http://schemas.microsoft.com/office/drawing/2014/main" val="583480739"/>
                    </a:ext>
                  </a:extLst>
                </a:gridCol>
                <a:gridCol w="7334980">
                  <a:extLst>
                    <a:ext uri="{9D8B030D-6E8A-4147-A177-3AD203B41FA5}">
                      <a16:colId xmlns:a16="http://schemas.microsoft.com/office/drawing/2014/main" val="2903276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WHO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กองกำลังทางเรือเฉพาะกิจ กองทัพ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ALIZARIA (</a:t>
                      </a:r>
                      <a:r>
                        <a:rPr lang="th-TH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กกล.</a:t>
                      </a:r>
                      <a:r>
                        <a:rPr lang="th-TH" b="0" dirty="0" err="1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ทร</a:t>
                      </a:r>
                      <a:r>
                        <a:rPr lang="th-TH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.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AZ)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446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WHAT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ปฏิบัติการยุทธ์สะเทินน้ำสะเทินบก, ป้องกันทางปีกให้กับ กกล.ทบ. บริเวณพื้นที่ </a:t>
                      </a: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VELTIMIGLIA</a:t>
                      </a:r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, คุ้มครองเส้นทางคมนาคมทางทะเล และการขนส่งทางทะเลในพื้นที่ส่วนหลัง</a:t>
                      </a:r>
                      <a:endParaRPr lang="en-US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1444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WHERE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ในพื้นที่ปฏิบัติการรอบเกาะ </a:t>
                      </a: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 (</a:t>
                      </a:r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โดยเฉพาะทิศเหนือ) และพื้นที่ </a:t>
                      </a: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VENTIMIGLIA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7667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WHEN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ก่อนห้วงเดือน ก.ค. ๒๐๒๖ ตามกรอบเวลาปฏิบัติการ</a:t>
                      </a:r>
                      <a:endParaRPr lang="en-US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7054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เพื่อรักษาเกาะ </a:t>
                      </a: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 </a:t>
                      </a:r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และพื้นที่ </a:t>
                      </a: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VENTIMIGLIA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8572014"/>
                  </a:ext>
                </a:extLst>
              </a:tr>
            </a:tbl>
          </a:graphicData>
        </a:graphic>
      </p:graphicFrame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5359510E-524C-E405-B970-755F901700F3}"/>
              </a:ext>
            </a:extLst>
          </p:cNvPr>
          <p:cNvSpPr txBox="1"/>
          <p:nvPr/>
        </p:nvSpPr>
        <p:spPr>
          <a:xfrm>
            <a:off x="5027182" y="2532577"/>
            <a:ext cx="7050143" cy="923330"/>
          </a:xfrm>
          <a:prstGeom prst="rect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th-TH" sz="1800" b="1" i="0" u="none" strike="noStrike" baseline="0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มุ่งประสงค์</a:t>
            </a:r>
          </a:p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กองทัพเรือ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ALIZARIA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จะสนับสนุนในการส่งผ่านกำลังทางบกเพื่อยึดเกาะ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TALOS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และสนับสนุนการป้องกันการยึดพื้นที่จากกองทัพ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WOADLAND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ในพื้นที่ทับซ้อน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VENTIMIGLIA</a:t>
            </a:r>
            <a:endParaRPr lang="th-TH" sz="1800" b="0" i="0" u="none" strike="noStrike" baseline="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67160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CDF6C-3983-501D-5C9D-F98175D20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67B1D986-02B5-CC5F-0261-8738DBDF8D05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๔ กำหนดภารกิจของหน่วย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BC41BDCE-26A9-3906-0632-D109EC5912BD}"/>
              </a:ext>
            </a:extLst>
          </p:cNvPr>
          <p:cNvSpPr txBox="1"/>
          <p:nvPr/>
        </p:nvSpPr>
        <p:spPr>
          <a:xfrm>
            <a:off x="543777" y="4378565"/>
            <a:ext cx="1123507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80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กองทัพเรือ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ALIZARIA (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กกล.</a:t>
            </a:r>
            <a:r>
              <a:rPr lang="th-TH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ทร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.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AZ)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จะปฏิบัติการยุทธ์สะเทินน้ำสะเทินบกที่เกาะ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TALOS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ป้องกันทางปีกให้กับ กกล.ทบ. บริเวณพื้นที่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VELTIMIGLIA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และคุ้มครองเส้นทางคมนาคมทางทะเล และการขนส่งทางทะเลในพื้นที่ส่วนหลังก่อนห้วงเดือน ก.ค. ๒๐๒๖ ตามกรอบเวลาปฏิบัติการเพื่อรักษาเกาะ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TALOS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และพื้นที่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VENTIMIGLIA</a:t>
            </a:r>
          </a:p>
        </p:txBody>
      </p: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F0EAEC94-84D6-6300-7D5E-CC4F08E99412}"/>
              </a:ext>
            </a:extLst>
          </p:cNvPr>
          <p:cNvSpPr txBox="1"/>
          <p:nvPr/>
        </p:nvSpPr>
        <p:spPr>
          <a:xfrm>
            <a:off x="1474634" y="3855345"/>
            <a:ext cx="4621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ถ้อยแถลงภารกิจ(</a:t>
            </a:r>
            <a:r>
              <a:rPr lang="en-US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MISSION STATEMENT</a:t>
            </a:r>
            <a:r>
              <a:rPr lang="th-TH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lang="en-US" sz="2800" b="1" u="sng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15" name="ตาราง 14">
            <a:extLst>
              <a:ext uri="{FF2B5EF4-FFF2-40B4-BE49-F238E27FC236}">
                <a16:creationId xmlns:a16="http://schemas.microsoft.com/office/drawing/2014/main" id="{2F7C1203-6DC8-E708-80A1-557EFD5AE2B4}"/>
              </a:ext>
            </a:extLst>
          </p:cNvPr>
          <p:cNvGraphicFramePr>
            <a:graphicFrameLocks noGrp="1"/>
          </p:cNvGraphicFramePr>
          <p:nvPr/>
        </p:nvGraphicFramePr>
        <p:xfrm>
          <a:off x="1559376" y="1305560"/>
          <a:ext cx="9203874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8894">
                  <a:extLst>
                    <a:ext uri="{9D8B030D-6E8A-4147-A177-3AD203B41FA5}">
                      <a16:colId xmlns:a16="http://schemas.microsoft.com/office/drawing/2014/main" val="583480739"/>
                    </a:ext>
                  </a:extLst>
                </a:gridCol>
                <a:gridCol w="7334980">
                  <a:extLst>
                    <a:ext uri="{9D8B030D-6E8A-4147-A177-3AD203B41FA5}">
                      <a16:colId xmlns:a16="http://schemas.microsoft.com/office/drawing/2014/main" val="2903276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WHO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กองกำลังทางเรือเฉพาะกิจ กองทัพ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ALIZARIA (</a:t>
                      </a:r>
                      <a:r>
                        <a:rPr lang="th-TH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กกล.</a:t>
                      </a:r>
                      <a:r>
                        <a:rPr lang="th-TH" b="0" dirty="0" err="1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ทร</a:t>
                      </a:r>
                      <a:r>
                        <a:rPr lang="th-TH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.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AZ)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446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WHAT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ปฏิบัติการยุทธ์สะเทินน้ำสะเทินบก, ป้องกันทางปีกให้กับ กกล.ทบ. บริเวณพื้นที่ </a:t>
                      </a: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VELTIMIGLIA</a:t>
                      </a:r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, คุ้มครองเส้นทางคมนาคมทางทะเล และการขนส่งทางทะเลในพื้นที่ส่วนหลัง</a:t>
                      </a:r>
                      <a:endParaRPr lang="en-US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1444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WHERE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ในพื้นที่ปฏิบัติการรอบเกาะ </a:t>
                      </a: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 (</a:t>
                      </a:r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โดยเฉพาะทิศเหนือ) และพื้นที่ </a:t>
                      </a: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VENTIMIGLIA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7667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WHEN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ก่อนห้วงเดือน ก.ค. ๒๐๒๖ ตามกรอบเวลาปฏิบัติการ</a:t>
                      </a:r>
                      <a:endParaRPr lang="en-US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7054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เพื่อรักษาเกาะ </a:t>
                      </a: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 </a:t>
                      </a:r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และพื้นที่ </a:t>
                      </a: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VENTIMIGLIA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8572014"/>
                  </a:ext>
                </a:extLst>
              </a:tr>
            </a:tbl>
          </a:graphicData>
        </a:graphic>
      </p:graphicFrame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966E9FFD-E13D-000C-CA7F-6F0902E01E57}"/>
              </a:ext>
            </a:extLst>
          </p:cNvPr>
          <p:cNvSpPr/>
          <p:nvPr/>
        </p:nvSpPr>
        <p:spPr>
          <a:xfrm>
            <a:off x="543777" y="3644900"/>
            <a:ext cx="11235071" cy="2349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05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D17CA-5A62-5A23-C9DD-96465D939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51ACC142-B0E4-AA07-6821-731068308BC3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๕ กำหนดเจตนารมณ์ของ ผบ.ชา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EE70191D-69D5-97A5-9F9B-FC5212AE9126}"/>
              </a:ext>
            </a:extLst>
          </p:cNvPr>
          <p:cNvGraphicFramePr>
            <a:graphicFrameLocks noGrp="1"/>
          </p:cNvGraphicFramePr>
          <p:nvPr/>
        </p:nvGraphicFramePr>
        <p:xfrm>
          <a:off x="265560" y="1984329"/>
          <a:ext cx="11791507" cy="4672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91507">
                  <a:extLst>
                    <a:ext uri="{9D8B030D-6E8A-4147-A177-3AD203B41FA5}">
                      <a16:colId xmlns:a16="http://schemas.microsoft.com/office/drawing/2014/main" val="2807016527"/>
                    </a:ext>
                  </a:extLst>
                </a:gridCol>
              </a:tblGrid>
              <a:tr h="1038271">
                <a:tc>
                  <a:txBody>
                    <a:bodyPr/>
                    <a:lstStyle/>
                    <a:p>
                      <a:r>
                        <a:rPr lang="th-TH" sz="2800" b="1" i="0" u="sng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มุ่งประสงค์</a:t>
                      </a:r>
                      <a:r>
                        <a:rPr lang="th-TH" sz="2800" b="1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กองทัพเรือ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ALIZARIA </a:t>
                      </a:r>
                      <a:r>
                        <a:rPr lang="th-TH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จะสนับสนุนในการส่งผ่านกำลังทางบกเพื่อยึดเกาะ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</a:t>
                      </a:r>
                      <a:r>
                        <a:rPr lang="th-TH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และสนับสนุนการป้องกันการยึดพื้นที่จากกองทัพ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WOADLAND</a:t>
                      </a:r>
                      <a:r>
                        <a:rPr lang="th-TH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ในพื้นที่ทับซ้อน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VENTIMIGLIA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PSK" panose="020B0500040200020003" pitchFamily="34" charset="-34"/>
                        <a:ea typeface="+mn-ea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552856"/>
                  </a:ext>
                </a:extLst>
              </a:tr>
              <a:tr h="19471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800" b="1" i="0" u="sng" strike="noStrike" baseline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วิธีการ</a:t>
                      </a:r>
                      <a:r>
                        <a:rPr lang="th-TH" sz="2800" b="0" i="0" u="none" strike="noStrike" baseline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2800" b="0" i="0" u="none" strike="noStrike" baseline="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ทร</a:t>
                      </a:r>
                      <a:r>
                        <a:rPr lang="th-TH" sz="2800" b="0" i="0" u="none" strike="noStrike" baseline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. </a:t>
                      </a:r>
                      <a:r>
                        <a:rPr lang="en-US" sz="2800" b="0" i="0" u="none" strike="noStrike" baseline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ALIZARIA </a:t>
                      </a:r>
                      <a:r>
                        <a:rPr lang="th-TH" sz="2800" b="0" i="0" u="none" strike="noStrike" baseline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ใช้กำลังทางเรือ</a:t>
                      </a:r>
                      <a:r>
                        <a:rPr kumimoji="0" lang="th-TH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ปฏิบัติ</a:t>
                      </a:r>
                      <a:r>
                        <a:rPr lang="th-TH" sz="2800" b="0" i="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การยุทธสะเทินน้ำสะเทินบกช่วยเหลือในการ</a:t>
                      </a:r>
                      <a:r>
                        <a:rPr lang="th-TH" sz="28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ในการส่งผ่านกำลังทางบกจำนวน ๑ กรม ร. </a:t>
                      </a:r>
                      <a:r>
                        <a:rPr lang="th-TH" sz="28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เพื่อยึดครองเกาะ </a:t>
                      </a:r>
                      <a:r>
                        <a:rPr lang="en-US" sz="28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</a:t>
                      </a:r>
                      <a:r>
                        <a:rPr lang="th-TH" sz="28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ด้านเหนือ และวางกำลังป้องกันการยึดพื้นที่เพิ่มเติมของกำลังทางบก </a:t>
                      </a:r>
                      <a:r>
                        <a:rPr lang="en-US" sz="28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WOADLAND </a:t>
                      </a:r>
                      <a:r>
                        <a:rPr lang="th-TH" sz="28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บริเวณรอบพื้นที่ทับซ้อน </a:t>
                      </a:r>
                      <a:r>
                        <a:rPr lang="en-US" sz="2800" b="0" i="0" u="none" strike="noStrike" baseline="0" dirty="0" err="1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Vetimigia</a:t>
                      </a:r>
                      <a:r>
                        <a:rPr lang="th-TH" sz="28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โดยการป้องกันทางปีกให้กับ ทบ.</a:t>
                      </a:r>
                      <a:r>
                        <a:rPr lang="en-US" sz="28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28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เพื่อนำมาใช้เป็นข้อเจรจาต่อรองทางการเมืองในการแลกเปลี่ยนการยึดพื้นที่ทับซ้อน </a:t>
                      </a:r>
                      <a:r>
                        <a:rPr lang="en-US" sz="28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VENTIMIGLIA</a:t>
                      </a:r>
                      <a:r>
                        <a:rPr lang="th-TH" sz="28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ของกองทัพ </a:t>
                      </a:r>
                      <a:r>
                        <a:rPr lang="en-US" sz="28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WOADLAND</a:t>
                      </a:r>
                      <a:r>
                        <a:rPr lang="th-TH" sz="28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โดย</a:t>
                      </a:r>
                      <a:r>
                        <a:rPr lang="en-US" sz="2800" b="0" i="0" dirty="0" err="1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ต้องจำกัดผลกระทบต่อประชาชนและ</a:t>
                      </a:r>
                      <a:r>
                        <a:rPr lang="th-TH" sz="2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การปฏิบัติการต้องได้รับการยอมรับจากนานาประเทศและมิตรประเทศอย่าง </a:t>
                      </a:r>
                      <a:r>
                        <a:rPr lang="en-US" sz="28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Cordia New" panose="020B0304020202020204" pitchFamily="34" charset="-34"/>
                        </a:rPr>
                        <a:t>Argus</a:t>
                      </a:r>
                      <a:endParaRPr lang="en-US" sz="2800" b="0" i="0" u="none" strike="noStrike" baseline="0" dirty="0">
                        <a:solidFill>
                          <a:schemeClr val="tx1"/>
                        </a:solidFill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612643"/>
                  </a:ext>
                </a:extLst>
              </a:tr>
              <a:tr h="1409444">
                <a:tc>
                  <a:txBody>
                    <a:bodyPr/>
                    <a:lstStyle/>
                    <a:p>
                      <a:r>
                        <a:rPr lang="th-TH" sz="2800" b="1" u="sng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สภาวะสุดท้ายที่ต้องการ</a:t>
                      </a:r>
                      <a:r>
                        <a:rPr lang="th-TH" sz="2800" b="1" u="none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28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เส้นทางคมนาคมทางทะเล </a:t>
                      </a:r>
                      <a:r>
                        <a:rPr lang="en-US" sz="28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ARIZARIA </a:t>
                      </a:r>
                      <a:r>
                        <a:rPr lang="th-TH" sz="28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ปลอดภัย</a:t>
                      </a:r>
                      <a:r>
                        <a:rPr lang="en-US" sz="28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28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ทบ.</a:t>
                      </a:r>
                      <a:r>
                        <a:rPr lang="en-US" sz="28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ARIZARIA </a:t>
                      </a:r>
                      <a:r>
                        <a:rPr lang="th-TH" sz="28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สามารถยึดครองเกาะ </a:t>
                      </a:r>
                      <a:r>
                        <a:rPr lang="en-US" sz="28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</a:t>
                      </a:r>
                      <a:r>
                        <a:rPr lang="th-TH" sz="28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และป้องกันการยึดพื้นที่พื้นที่ทับซ้อน </a:t>
                      </a:r>
                      <a:r>
                        <a:rPr lang="en-US" sz="28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VENTIMIGLIA </a:t>
                      </a:r>
                      <a:r>
                        <a:rPr lang="th-TH" sz="28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ได้ พร้อมทั้งดำรงกำลังเพื่อสร้างข้อได้เปรียบและอำนาจต่อรองในการเจรจาของรัฐบาล</a:t>
                      </a:r>
                      <a:endParaRPr lang="th-TH" sz="2800" b="0" u="none" dirty="0">
                        <a:solidFill>
                          <a:schemeClr val="tx1"/>
                        </a:solidFill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611304"/>
                  </a:ext>
                </a:extLst>
              </a:tr>
            </a:tbl>
          </a:graphicData>
        </a:graphic>
      </p:graphicFrame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D358A04E-C97E-7D25-9A5F-6000E2ED89F2}"/>
              </a:ext>
            </a:extLst>
          </p:cNvPr>
          <p:cNvSpPr txBox="1"/>
          <p:nvPr/>
        </p:nvSpPr>
        <p:spPr>
          <a:xfrm>
            <a:off x="265560" y="1424939"/>
            <a:ext cx="6172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เจตนารมณ์ของ ผบ.ชา(</a:t>
            </a:r>
            <a:r>
              <a:rPr lang="th-TH" sz="2800" b="1" u="sng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ทร</a:t>
            </a:r>
            <a:r>
              <a:rPr lang="th-TH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.</a:t>
            </a:r>
            <a:r>
              <a:rPr lang="en-US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ALIZARIA</a:t>
            </a:r>
            <a:r>
              <a:rPr lang="th-TH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lang="en-US" sz="2800" u="sng" dirty="0"/>
          </a:p>
        </p:txBody>
      </p:sp>
    </p:spTree>
    <p:extLst>
      <p:ext uri="{BB962C8B-B14F-4D97-AF65-F5344CB8AC3E}">
        <p14:creationId xmlns:p14="http://schemas.microsoft.com/office/powerpoint/2010/main" val="1948414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2085B-5360-15DF-9A51-B330A252F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E9516264-C6BA-64C8-D4A3-598118BB7E3F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 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๒ ตรวจสอบข้อเท็จจริงในการวางแผน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0BE86CD3-E7C1-7BA3-AB3B-4625613A1A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225"/>
          <a:stretch>
            <a:fillRect/>
          </a:stretch>
        </p:blipFill>
        <p:spPr>
          <a:xfrm>
            <a:off x="0" y="1284667"/>
            <a:ext cx="3121011" cy="5573333"/>
          </a:xfrm>
          <a:prstGeom prst="rect">
            <a:avLst/>
          </a:prstGeom>
          <a:ln w="28575">
            <a:noFill/>
          </a:ln>
        </p:spPr>
      </p:pic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C7F0C62F-66D1-8B0D-1ACB-9E427304F223}"/>
              </a:ext>
            </a:extLst>
          </p:cNvPr>
          <p:cNvSpPr/>
          <p:nvPr/>
        </p:nvSpPr>
        <p:spPr>
          <a:xfrm>
            <a:off x="0" y="5198890"/>
            <a:ext cx="3121011" cy="7488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7F0EC4B6-D829-C1BF-4EB8-509A90EB95F8}"/>
              </a:ext>
            </a:extLst>
          </p:cNvPr>
          <p:cNvSpPr txBox="1"/>
          <p:nvPr/>
        </p:nvSpPr>
        <p:spPr>
          <a:xfrm>
            <a:off x="3353306" y="1573227"/>
            <a:ext cx="8675913" cy="4829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u="sng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ข้อกำหนด</a:t>
            </a:r>
            <a:r>
              <a:rPr lang="en-US" sz="2800" b="1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(Must Do)</a:t>
            </a:r>
            <a:r>
              <a:rPr lang="en-US" sz="2800" b="0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endParaRPr lang="th-TH" sz="2800" b="0" i="0" u="sng" dirty="0">
              <a:solidFill>
                <a:srgbClr val="000000"/>
              </a:solidFill>
              <a:effectLst/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l"/>
            <a:r>
              <a:rPr lang="th-TH" sz="28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๑.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ต้องจำกัดผลกระทบต่อประชาชนและ</a:t>
            </a:r>
            <a:endParaRPr lang="th-TH" sz="2800" b="0" i="0" dirty="0">
              <a:solidFill>
                <a:srgbClr val="000000"/>
              </a:solidFill>
              <a:effectLst/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l"/>
            <a:r>
              <a:rPr lang="th-TH" sz="2800" dirty="0">
                <a:solidFill>
                  <a:srgbClr val="00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๒.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การปฏิบัติการยึดหัวหาดต้องสำเร็จก่อนข้าศึกพร้อมรบในเดือน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ก.ค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. ๒๖</a:t>
            </a:r>
            <a:endParaRPr lang="th-TH" sz="2800" b="0" i="0" dirty="0">
              <a:solidFill>
                <a:srgbClr val="000000"/>
              </a:solidFill>
              <a:effectLst/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2800" kern="100" dirty="0">
                <a:latin typeface="Calibri" panose="020F0502020204030204" pitchFamily="34" charset="0"/>
                <a:ea typeface="Calibri" panose="020F0502020204030204" pitchFamily="34" charset="0"/>
                <a:cs typeface="TH SarabunPSK" panose="020B0500040200020003" pitchFamily="34" charset="-34"/>
              </a:rPr>
              <a:t>๓</a:t>
            </a:r>
            <a:r>
              <a:rPr lang="th-TH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H SarabunPSK" panose="020B0500040200020003" pitchFamily="34" charset="-34"/>
              </a:rPr>
              <a:t>.การปฏิบัติการต้องได้รับการยอมรับจากนานาประเทศและมิตรประเทศอย่าง </a:t>
            </a:r>
            <a:r>
              <a:rPr lang="en-US" sz="2800" kern="100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Argus</a:t>
            </a:r>
            <a:endParaRPr lang="en-US" sz="2800" b="0" i="0" dirty="0">
              <a:solidFill>
                <a:srgbClr val="000000"/>
              </a:solidFill>
              <a:effectLst/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l"/>
            <a:r>
              <a:rPr lang="en-US" sz="2800" b="1" i="0" u="sng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ข้อจำกัด</a:t>
            </a:r>
            <a:r>
              <a:rPr lang="en-US" sz="2800" b="1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(Cannot Do)</a:t>
            </a:r>
            <a:r>
              <a:rPr lang="en-US" sz="2800" b="0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endParaRPr lang="th-TH" sz="2800" b="0" i="0" u="sng" dirty="0">
              <a:solidFill>
                <a:srgbClr val="000000"/>
              </a:solidFill>
              <a:effectLst/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h-TH" sz="28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๑.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ห้ามใช้กำลังขนาดใหญ่เข้ายึดคืนพื้นที่ทับซ้อนโดยตรง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(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ต้องหลีกเลี่ยงการปะทะแตกหักที่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Ventimiglia)</a:t>
            </a:r>
            <a:r>
              <a:rPr lang="th-TH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H SarabunPSK" panose="020B0500040200020003" pitchFamily="34" charset="-34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h-TH" sz="2800" kern="100" dirty="0">
                <a:latin typeface="Calibri" panose="020F0502020204030204" pitchFamily="34" charset="0"/>
                <a:ea typeface="Calibri" panose="020F0502020204030204" pitchFamily="34" charset="0"/>
                <a:cs typeface="TH SarabunPSK" panose="020B0500040200020003" pitchFamily="34" charset="-34"/>
              </a:rPr>
              <a:t>๒.</a:t>
            </a:r>
            <a:r>
              <a:rPr lang="th-TH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H SarabunPSK" panose="020B0500040200020003" pitchFamily="34" charset="-34"/>
              </a:rPr>
              <a:t>ต้องจำกัดผลกระทบและหลีกเลี่ยงการสูญเสียพลเรือนขนาดใหญ่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h-TH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H SarabunPSK" panose="020B0500040200020003" pitchFamily="34" charset="-34"/>
              </a:rPr>
              <a:t>๓.ไม่เป็นฝ่ายริเริ่มในการขยายสถานการณ์ความขัดแย้ง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algn="l"/>
            <a:endParaRPr lang="en-US" sz="2800" b="0" i="0" dirty="0">
              <a:solidFill>
                <a:srgbClr val="000000"/>
              </a:solidFill>
              <a:effectLst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45541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F8E5F-DBF4-878D-5DC7-1A20F5E97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2384929B-B6C0-E06E-AFCF-362901AB960C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 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๒ ตรวจสอบข้อเท็จจริงในการวางแผน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EF97A918-6990-018F-A6E1-4AF040CCC3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225"/>
          <a:stretch>
            <a:fillRect/>
          </a:stretch>
        </p:blipFill>
        <p:spPr>
          <a:xfrm>
            <a:off x="0" y="1284667"/>
            <a:ext cx="3121011" cy="5573333"/>
          </a:xfrm>
          <a:prstGeom prst="rect">
            <a:avLst/>
          </a:prstGeom>
          <a:ln w="28575">
            <a:noFill/>
          </a:ln>
        </p:spPr>
      </p:pic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84E21F03-48BF-EFEA-71FF-63BDAD3DC461}"/>
              </a:ext>
            </a:extLst>
          </p:cNvPr>
          <p:cNvSpPr/>
          <p:nvPr/>
        </p:nvSpPr>
        <p:spPr>
          <a:xfrm>
            <a:off x="0" y="5198890"/>
            <a:ext cx="3121011" cy="7488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D7904B18-6CCF-2BAB-F471-360C104F5533}"/>
              </a:ext>
            </a:extLst>
          </p:cNvPr>
          <p:cNvSpPr txBox="1"/>
          <p:nvPr/>
        </p:nvSpPr>
        <p:spPr>
          <a:xfrm>
            <a:off x="3265714" y="1424939"/>
            <a:ext cx="8926286" cy="5001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100" b="0" i="0" u="none" strike="noStrike" baseline="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กฎการปะทะ </a:t>
            </a:r>
            <a:r>
              <a:rPr lang="en-US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ROE</a:t>
            </a:r>
            <a:endParaRPr lang="th-TH" sz="2800" b="1" u="sng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๑. </a:t>
            </a:r>
            <a:r>
              <a:rPr lang="th-TH" sz="28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ใช้กำลังทหารเพื่อป้องกันตนเอง อย่างเหมาะสมและได้สัดส่วน</a:t>
            </a:r>
          </a:p>
          <a:p>
            <a:r>
              <a:rPr lang="th-TH" sz="28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๒. ใช้กำลังเพื่อบรรลุภารกิจให้ใช้ในระดับที่ต่ำที่สุด ถ้ามีความจำเป็นในการบีบบังคับให้บรรลุภารกิจ ให้หน่วยทหารนั้น เสนอหมายเลขและมาตรการที่ต้องการใช้ พร้อมทั้งเหตุผลและข่าวกรองประกอบเสนอต่อกองทัพ </a:t>
            </a:r>
            <a:r>
              <a:rPr lang="en-US" sz="28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AZ </a:t>
            </a:r>
            <a:r>
              <a:rPr lang="th-TH" sz="28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ในโอกาสแรก</a:t>
            </a:r>
          </a:p>
          <a:p>
            <a:r>
              <a:rPr lang="th-TH" sz="28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๓. การขอเปลี่ยนแปลงกฎการใช้กำลัง ให้ขออนุญาตถึงศูนย์บัญชาการทางทหาร (</a:t>
            </a:r>
            <a:r>
              <a:rPr lang="en-US" sz="28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JOC) </a:t>
            </a:r>
            <a:r>
              <a:rPr lang="th-TH" sz="28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กองบัญชาการทางทหาร </a:t>
            </a:r>
            <a:r>
              <a:rPr lang="en-US" sz="28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AZ</a:t>
            </a:r>
          </a:p>
          <a:p>
            <a:r>
              <a:rPr lang="th-TH" sz="28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๔. การใช้กำลังทางทหารจะต้องหลีกเลี่ยงผลกระทบต่อพลเรือนในพื้นที่ปฏิบัติการ</a:t>
            </a:r>
          </a:p>
          <a:p>
            <a:r>
              <a:rPr lang="th-TH" sz="28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๕. ใช้กำลังทหารโดยหลีกเลี่ยงผลกระทบที่จะเกิดขึ้นต่อประเทศที่เป็นกลาง และประเทศที่สาม</a:t>
            </a:r>
          </a:p>
          <a:p>
            <a:r>
              <a:rPr lang="th-TH" sz="28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๖.หลีกเลี่ยงการใช้อากาศยานลุกล้ำเขาไปในเขตแดนทางบก และทะเลอาณาเขตของฝ่ายข้าศึกในขั้นสร้างสภาวะที่เกื้อกูล</a:t>
            </a:r>
          </a:p>
        </p:txBody>
      </p:sp>
    </p:spTree>
    <p:extLst>
      <p:ext uri="{BB962C8B-B14F-4D97-AF65-F5344CB8AC3E}">
        <p14:creationId xmlns:p14="http://schemas.microsoft.com/office/powerpoint/2010/main" val="4071096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13612-4262-8720-5491-9343636AA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EFEAF022-4989-45E2-EDB0-F047A8F79E00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 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๒ ตรวจสอบข้อเท็จจริงในการวางแผน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83680FDC-F4EA-CAEB-F65C-2575FF7E96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225"/>
          <a:stretch>
            <a:fillRect/>
          </a:stretch>
        </p:blipFill>
        <p:spPr>
          <a:xfrm>
            <a:off x="0" y="1197582"/>
            <a:ext cx="1517790" cy="2710389"/>
          </a:xfrm>
          <a:prstGeom prst="rect">
            <a:avLst/>
          </a:prstGeom>
          <a:ln w="28575">
            <a:noFill/>
          </a:ln>
        </p:spPr>
      </p:pic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5C3346F1-1EFB-8B42-F57B-FA3C1523FFEA}"/>
              </a:ext>
            </a:extLst>
          </p:cNvPr>
          <p:cNvSpPr/>
          <p:nvPr/>
        </p:nvSpPr>
        <p:spPr>
          <a:xfrm>
            <a:off x="-1" y="3428999"/>
            <a:ext cx="1517790" cy="2721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7AF91164-D4E1-A83E-819F-29321B912002}"/>
              </a:ext>
            </a:extLst>
          </p:cNvPr>
          <p:cNvSpPr txBox="1"/>
          <p:nvPr/>
        </p:nvSpPr>
        <p:spPr>
          <a:xfrm>
            <a:off x="1802184" y="1642868"/>
            <a:ext cx="988907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จุดมุ่งระดับศบท.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กองทัพ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AZ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สามารถควบคุมพื้นที่สำคัญรอบ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VENTIMIGLIA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และเกาะ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TALOS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ได้อย่างมั่นคงผลักดันและจำกัดขีดความสามารถของข้าศึก (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WL)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มิให้คุกคามพื้นที่พิพาท พร้อมรักษาเสรีในการปฏิบัติการของกำลังฝ่าย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AZ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เพื่อสนับสนุนการเจรจาและป้องกันประเทศ</a:t>
            </a:r>
          </a:p>
          <a:p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จุดศูนย์ดุลระดับศบท.</a:t>
            </a:r>
          </a:p>
          <a:p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	กองทัพ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AZ 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จุดมุ่งระดับยุทธการ</a:t>
            </a:r>
          </a:p>
          <a:p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	กองทัพเรือ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ALIZARIA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จะปฏิบัติการยุทธสะเทินน้ำสะเทินบก ก.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TALOS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ช่วยเหลือในการในการส่งผ่านกำลังทางบกจำนวน ๑ กรม ร. เพื่อยึดเกาะ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TALOS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และสนับสนุนการปฏิบัติการร่วม เพื่อรักษา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TALOS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และพื้นที่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VENTIMIGLIA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378574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0DB53-73B3-85FB-4A3F-72E6341C1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ED31453E-023F-6BCE-B1D2-2F874594B4E9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 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๒ ตรวจสอบข้อเท็จจริงในการวางแผน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02F94B52-57EB-8DC6-92B8-1D71E59383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225"/>
          <a:stretch>
            <a:fillRect/>
          </a:stretch>
        </p:blipFill>
        <p:spPr>
          <a:xfrm>
            <a:off x="0" y="1197582"/>
            <a:ext cx="1517790" cy="2710389"/>
          </a:xfrm>
          <a:prstGeom prst="rect">
            <a:avLst/>
          </a:prstGeom>
          <a:ln w="28575">
            <a:noFill/>
          </a:ln>
        </p:spPr>
      </p:pic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739987F2-B13F-0AA7-F59E-369ED3867E24}"/>
              </a:ext>
            </a:extLst>
          </p:cNvPr>
          <p:cNvSpPr/>
          <p:nvPr/>
        </p:nvSpPr>
        <p:spPr>
          <a:xfrm>
            <a:off x="-1" y="3428999"/>
            <a:ext cx="1517790" cy="2721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C6491672-B935-E079-0581-28F361A3F02B}"/>
              </a:ext>
            </a:extLst>
          </p:cNvPr>
          <p:cNvSpPr txBox="1"/>
          <p:nvPr/>
        </p:nvSpPr>
        <p:spPr>
          <a:xfrm>
            <a:off x="1779046" y="1310979"/>
            <a:ext cx="1030409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ปัจจัยเข้มแข็งวิกฤติ </a:t>
            </a:r>
            <a:r>
              <a:rPr lang="en-US" sz="24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CS</a:t>
            </a:r>
            <a:r>
              <a:rPr lang="th-TH" sz="24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กำลังรบทางเรือมีความพร้อมสูง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มีเรือพิฆาต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(DDG),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เรือฟริเกต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(FFG)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และเรือดำน้ำ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(SSK)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ที่สามารถควบคุมทะเลได้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กำลังรบทางบก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(๑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กรม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ร.)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มีความพร้อมรบ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๑๐๐%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ในการเป็นกำลังรบยกพลขึ้นบก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ความสามารถในการส่งกำลังบำรุงทางทะเลที่รวดเร็ว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จากข้อได้เปรียบของภูมิประเทศที่มีท่าเรือเรียงรายตามแนวชายฝั่ง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</a:p>
          <a:p>
            <a:r>
              <a:rPr lang="th-TH" sz="24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ปัจจัยอ่อนแอวิกฤติ</a:t>
            </a:r>
            <a:r>
              <a:rPr lang="en-US" sz="24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 CW</a:t>
            </a:r>
            <a:endParaRPr lang="th-TH" sz="2400" b="1" u="sng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indent="-342900">
              <a:buFont typeface="+mj-lt"/>
              <a:buAutoNum type="arabicPeriod"/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เรืออู่ยกพลขึ้นบก (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LHD/LPD)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มีไม่เพียงพอต่อการยกพลขนาดใหญ่ ต้องพึ่งพาการดัดแปลงเรือพาณิชย์ (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Merchant Shipping Pool)</a:t>
            </a:r>
          </a:p>
          <a:p>
            <a:pPr marL="342900" indent="-342900">
              <a:buFont typeface="+mj-lt"/>
              <a:buAutoNum type="arabicPeriod"/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ทอ.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AZ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ไม่สามารถสนับสนุนการปฏิบัติการรบในเวลากลางคืนได้</a:t>
            </a:r>
          </a:p>
          <a:p>
            <a:pPr marL="342900" indent="-342900">
              <a:buFont typeface="+mj-lt"/>
              <a:buAutoNum type="arabicPeriod"/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ระบบดาวเทียมนำทางถูกกวนสัญญาณ (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GPS Jamming/Spoofing)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รอบเกาะ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TALOS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</a:p>
          <a:p>
            <a:r>
              <a:rPr lang="th-TH" sz="24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จุดศูนย์ดุลระดับยุทธการ</a:t>
            </a:r>
            <a:r>
              <a:rPr lang="en-US" sz="24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 COG1</a:t>
            </a:r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4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กำหนด </a:t>
            </a:r>
            <a:r>
              <a:rPr lang="en-US" sz="24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COG1 </a:t>
            </a:r>
            <a:r>
              <a:rPr lang="th-TH" sz="24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จาก </a:t>
            </a:r>
            <a:r>
              <a:rPr lang="en-US" sz="24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CS </a:t>
            </a:r>
            <a:r>
              <a:rPr lang="th-TH" sz="24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ที่สำคัญที่สุด</a:t>
            </a:r>
            <a:endParaRPr lang="th-TH" sz="2400" b="1" u="sng" dirty="0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sz="3600" b="1" u="sng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กำลังรบทางเรือ</a:t>
            </a:r>
            <a:r>
              <a:rPr lang="th-TH" sz="36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(กองเรือเฉพาะกิจ)</a:t>
            </a:r>
          </a:p>
          <a:p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731054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789A4-549D-7FCC-57FA-9493C59F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6BC21ABE-08E5-FF79-AC31-578B7AF4C2A8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 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๒ ตรวจสอบข้อเท็จจริงในการวางแผน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FF6BE6C1-A085-5C60-32A8-7C412DE344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225"/>
          <a:stretch>
            <a:fillRect/>
          </a:stretch>
        </p:blipFill>
        <p:spPr>
          <a:xfrm>
            <a:off x="0" y="1197582"/>
            <a:ext cx="1517790" cy="2710389"/>
          </a:xfrm>
          <a:prstGeom prst="rect">
            <a:avLst/>
          </a:prstGeom>
          <a:ln w="28575">
            <a:noFill/>
          </a:ln>
        </p:spPr>
      </p:pic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B4BFC4D7-180C-1041-297D-C2D70A7E910C}"/>
              </a:ext>
            </a:extLst>
          </p:cNvPr>
          <p:cNvSpPr/>
          <p:nvPr/>
        </p:nvSpPr>
        <p:spPr>
          <a:xfrm>
            <a:off x="-1" y="3428999"/>
            <a:ext cx="1517790" cy="2721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26BA20AE-5ADF-6338-1EBD-BC2AB4C7078E}"/>
              </a:ext>
            </a:extLst>
          </p:cNvPr>
          <p:cNvSpPr/>
          <p:nvPr/>
        </p:nvSpPr>
        <p:spPr>
          <a:xfrm>
            <a:off x="1622193" y="2790383"/>
            <a:ext cx="3842438" cy="109728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u="sng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กำลังรบทางเรือ</a:t>
            </a:r>
            <a:r>
              <a:rPr lang="th-TH" sz="2800" b="1" u="sng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(กองเรือเฉพาะกิจ)</a:t>
            </a:r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4BF04159-20B9-65D3-6A84-0498EAC8E4B4}"/>
              </a:ext>
            </a:extLst>
          </p:cNvPr>
          <p:cNvSpPr/>
          <p:nvPr/>
        </p:nvSpPr>
        <p:spPr>
          <a:xfrm>
            <a:off x="6489861" y="2753941"/>
            <a:ext cx="5486347" cy="62012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CC2 (Fires): </a:t>
            </a:r>
            <a:r>
              <a:rPr lang="th-TH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ขีดความสามารถในการควบคุมทะเล (</a:t>
            </a:r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Sea Control) </a:t>
            </a:r>
            <a:r>
              <a:rPr lang="th-TH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ลิดรอนและทำลายกำลังทางเรือ/อากาศของข้าศึก (</a:t>
            </a:r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WL) </a:t>
            </a:r>
            <a:r>
              <a:rPr lang="th-TH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รอบเกาะ </a:t>
            </a:r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TALOS</a:t>
            </a:r>
          </a:p>
        </p:txBody>
      </p:sp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570918AD-745C-FE86-E844-B9FD4AEFB6E7}"/>
              </a:ext>
            </a:extLst>
          </p:cNvPr>
          <p:cNvSpPr/>
          <p:nvPr/>
        </p:nvSpPr>
        <p:spPr>
          <a:xfrm>
            <a:off x="6489862" y="3517121"/>
            <a:ext cx="5486347" cy="62012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CC3 (Movement and Maneuver):</a:t>
            </a:r>
            <a:r>
              <a:rPr lang="en-US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ขีดความสามารถในการปฏิบัติการสะเทินน้ำสะเทินบก</a:t>
            </a:r>
            <a:r>
              <a:rPr lang="en-US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เพื่อส่งผ่านกำลังทางบก</a:t>
            </a:r>
            <a:r>
              <a:rPr lang="en-US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(๑ </a:t>
            </a:r>
            <a:r>
              <a:rPr lang="en-US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กรม</a:t>
            </a:r>
            <a:r>
              <a:rPr lang="en-US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ร.) </a:t>
            </a:r>
            <a:r>
              <a:rPr lang="en-US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ขึ้นสู่หัวหาดเกาะ</a:t>
            </a:r>
            <a:r>
              <a:rPr lang="en-US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TALOS </a:t>
            </a:r>
            <a:r>
              <a:rPr lang="en-US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เหนือ</a:t>
            </a:r>
            <a:endParaRPr lang="en-US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9FB598F6-BA59-69AD-E85A-B7CE6C22E2F4}"/>
              </a:ext>
            </a:extLst>
          </p:cNvPr>
          <p:cNvSpPr/>
          <p:nvPr/>
        </p:nvSpPr>
        <p:spPr>
          <a:xfrm>
            <a:off x="6466114" y="1984431"/>
            <a:ext cx="5486347" cy="62012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CC1 (C2/Intelligence):</a:t>
            </a:r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ขีดความสามารถในการควบคุมบังคับบัญชา</a:t>
            </a:r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สื่อสาร</a:t>
            </a:r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และหาข่าว</a:t>
            </a:r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ระหว่างหมวดเรือต่างๆ</a:t>
            </a:r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ท่ามกลางสภาวะสงครามอิเล็กทรอนิกส์</a:t>
            </a:r>
            <a:endParaRPr lang="en-US" sz="16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Rectangle: Rounded Corners 14">
            <a:extLst>
              <a:ext uri="{FF2B5EF4-FFF2-40B4-BE49-F238E27FC236}">
                <a16:creationId xmlns:a16="http://schemas.microsoft.com/office/drawing/2014/main" id="{AD2CF295-EBBB-F104-C1B1-B92AA0F2F0A6}"/>
              </a:ext>
            </a:extLst>
          </p:cNvPr>
          <p:cNvSpPr/>
          <p:nvPr/>
        </p:nvSpPr>
        <p:spPr>
          <a:xfrm>
            <a:off x="6466111" y="4382600"/>
            <a:ext cx="5486347" cy="62012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CC4 (Protection):</a:t>
            </a:r>
            <a:r>
              <a:rPr lang="en-US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ขีดความสามารถในการป้องกันภัย</a:t>
            </a:r>
            <a:r>
              <a:rPr lang="th-TH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ผิวน้ำ ใต้น้ำ และ</a:t>
            </a:r>
            <a:r>
              <a:rPr lang="en-US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ทางอากาศให้กับกองเรือเฉพาะกิจและขบวนเรือพาณิชย์</a:t>
            </a:r>
            <a:endParaRPr lang="en-US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TextBox 30">
            <a:extLst>
              <a:ext uri="{FF2B5EF4-FFF2-40B4-BE49-F238E27FC236}">
                <a16:creationId xmlns:a16="http://schemas.microsoft.com/office/drawing/2014/main" id="{4C9F8501-4AFF-91BA-67D5-681D333C3D0A}"/>
              </a:ext>
            </a:extLst>
          </p:cNvPr>
          <p:cNvSpPr txBox="1"/>
          <p:nvPr/>
        </p:nvSpPr>
        <p:spPr>
          <a:xfrm>
            <a:off x="2900120" y="2144052"/>
            <a:ext cx="1162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COG</a:t>
            </a:r>
            <a:endParaRPr lang="th-TH" sz="36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TextBox 31">
            <a:extLst>
              <a:ext uri="{FF2B5EF4-FFF2-40B4-BE49-F238E27FC236}">
                <a16:creationId xmlns:a16="http://schemas.microsoft.com/office/drawing/2014/main" id="{A22C4B9F-70C0-A6E0-3B22-3CE4B824A039}"/>
              </a:ext>
            </a:extLst>
          </p:cNvPr>
          <p:cNvSpPr txBox="1"/>
          <p:nvPr/>
        </p:nvSpPr>
        <p:spPr>
          <a:xfrm>
            <a:off x="6947063" y="1352826"/>
            <a:ext cx="5375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ขีดความสามารถที่จำเป็นยิ่ง </a:t>
            </a:r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CC</a:t>
            </a:r>
            <a:endParaRPr lang="th-TH" sz="36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" name="Rectangle: Rounded Corners 67">
            <a:extLst>
              <a:ext uri="{FF2B5EF4-FFF2-40B4-BE49-F238E27FC236}">
                <a16:creationId xmlns:a16="http://schemas.microsoft.com/office/drawing/2014/main" id="{CED3E7A5-4544-41F0-DAD1-BCBBD1F51BAA}"/>
              </a:ext>
            </a:extLst>
          </p:cNvPr>
          <p:cNvSpPr/>
          <p:nvPr/>
        </p:nvSpPr>
        <p:spPr>
          <a:xfrm>
            <a:off x="6466112" y="5145780"/>
            <a:ext cx="5486347" cy="41720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CC</a:t>
            </a:r>
            <a:r>
              <a:rPr lang="th-TH" sz="1600" b="1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5</a:t>
            </a:r>
            <a:r>
              <a:rPr lang="en-US" sz="1600" b="1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(Sustainment):</a:t>
            </a:r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ขีดความสามารถในการ</a:t>
            </a:r>
            <a:r>
              <a:rPr lang="th-TH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ส่งกำ</a:t>
            </a:r>
            <a:r>
              <a:rPr lang="th-TH" sz="16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ลั</a:t>
            </a:r>
            <a:r>
              <a:rPr lang="th-TH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งบำรง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AA7A2A9B-DE25-59B9-E374-99BE42462BB2}"/>
              </a:ext>
            </a:extLst>
          </p:cNvPr>
          <p:cNvSpPr txBox="1"/>
          <p:nvPr/>
        </p:nvSpPr>
        <p:spPr>
          <a:xfrm>
            <a:off x="709922" y="4030945"/>
            <a:ext cx="56385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หมวดเรือควบคุมทะเล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(Sea Control Task Group)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หมวดเรือโจมตีสะเทินน้ำสะเทินบก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(Amphibious Task Group)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หมวดเรือคุ้มกันและป้องกันภัยทางอากาศ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(Escort &amp; Air Defense Task Group)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หมวดเรือส่งกำลังบำรุง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(Logistics Task Group)</a:t>
            </a:r>
          </a:p>
        </p:txBody>
      </p:sp>
    </p:spTree>
    <p:extLst>
      <p:ext uri="{BB962C8B-B14F-4D97-AF65-F5344CB8AC3E}">
        <p14:creationId xmlns:p14="http://schemas.microsoft.com/office/powerpoint/2010/main" val="3149864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29A0A-7A14-BFFC-5611-15D6AE9BC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171B198F-3E5A-289A-46A3-AB194C23452B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 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๒ ตรวจสอบข้อเท็จจริงในการวางแผน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1B9D4DD6-7C1B-3B60-D987-3E8EE9DCB113}"/>
              </a:ext>
            </a:extLst>
          </p:cNvPr>
          <p:cNvSpPr/>
          <p:nvPr/>
        </p:nvSpPr>
        <p:spPr>
          <a:xfrm>
            <a:off x="0" y="2345424"/>
            <a:ext cx="1991864" cy="6463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กำลังรบทางเรือ</a:t>
            </a:r>
            <a:endParaRPr lang="th-TH" b="1" u="sng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b="1" u="sng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(กองเรือเฉพาะกิจ)</a:t>
            </a:r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3AC04948-359E-28FB-0663-2257E33BE8B5}"/>
              </a:ext>
            </a:extLst>
          </p:cNvPr>
          <p:cNvSpPr/>
          <p:nvPr/>
        </p:nvSpPr>
        <p:spPr>
          <a:xfrm>
            <a:off x="2193440" y="2860396"/>
            <a:ext cx="2645231" cy="62012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CC2 (Fires): </a:t>
            </a:r>
            <a:r>
              <a:rPr lang="th-TH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ขีดความสามารถในการควบคุมทะเล (</a:t>
            </a:r>
            <a:r>
              <a:rPr lang="en-US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Sea Control) </a:t>
            </a:r>
            <a:r>
              <a:rPr lang="th-TH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ลิดรอนและทำลายกำลังทางเรือ/อากาศของข้าศึก (</a:t>
            </a:r>
            <a:r>
              <a:rPr lang="en-US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WL) </a:t>
            </a:r>
            <a:r>
              <a:rPr lang="th-TH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รอบเกาะ </a:t>
            </a:r>
            <a:r>
              <a:rPr lang="en-US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TALOS</a:t>
            </a:r>
          </a:p>
        </p:txBody>
      </p:sp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8570FE93-F28F-C4E4-9A7D-30300514FB1B}"/>
              </a:ext>
            </a:extLst>
          </p:cNvPr>
          <p:cNvSpPr/>
          <p:nvPr/>
        </p:nvSpPr>
        <p:spPr>
          <a:xfrm>
            <a:off x="2193437" y="3952116"/>
            <a:ext cx="2645232" cy="62012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CC3 (Movement and Maneuver):</a:t>
            </a:r>
            <a:r>
              <a:rPr lang="en-US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ขีดความสามารถในการปฏิบัติการสะเทินน้ำสะเทินบก</a:t>
            </a:r>
            <a:r>
              <a:rPr lang="en-US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เพื่อส่งผ่านกำลังทางบก</a:t>
            </a:r>
            <a:r>
              <a:rPr lang="en-US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(๑ </a:t>
            </a:r>
            <a:r>
              <a:rPr lang="en-US" sz="12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กรม</a:t>
            </a:r>
            <a:r>
              <a:rPr lang="en-US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ร.) </a:t>
            </a:r>
            <a:r>
              <a:rPr lang="en-US" sz="12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ขึ้นสู่หัวหาดเกาะ</a:t>
            </a:r>
            <a:r>
              <a:rPr lang="en-US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TALOS </a:t>
            </a:r>
            <a:r>
              <a:rPr lang="en-US" sz="12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เหนือ</a:t>
            </a:r>
            <a:endParaRPr lang="en-US" sz="12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C17B44F0-49C3-FB98-1E2C-73C19D6F5F25}"/>
              </a:ext>
            </a:extLst>
          </p:cNvPr>
          <p:cNvSpPr/>
          <p:nvPr/>
        </p:nvSpPr>
        <p:spPr>
          <a:xfrm>
            <a:off x="2193437" y="1768676"/>
            <a:ext cx="2569031" cy="62012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CC1 (C2/Intelligence):</a:t>
            </a:r>
            <a:r>
              <a:rPr lang="en-US" sz="11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ขีดความสามารถในการควบคุมบังคับบัญชา</a:t>
            </a:r>
            <a:r>
              <a:rPr lang="en-US" sz="11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สื่อสาร</a:t>
            </a:r>
            <a:r>
              <a:rPr lang="en-US" sz="11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และหาข่าว</a:t>
            </a:r>
            <a:r>
              <a:rPr lang="en-US" sz="11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ระหว่างหมวดเรือต่างๆ</a:t>
            </a:r>
            <a:r>
              <a:rPr lang="en-US" sz="11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ท่ามกลางสภาวะสงครามอิเล็กทรอนิกส์</a:t>
            </a:r>
            <a:endParaRPr lang="en-US" sz="11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Rectangle: Rounded Corners 14">
            <a:extLst>
              <a:ext uri="{FF2B5EF4-FFF2-40B4-BE49-F238E27FC236}">
                <a16:creationId xmlns:a16="http://schemas.microsoft.com/office/drawing/2014/main" id="{9A56E0A1-BE15-D211-CC41-905314D16E55}"/>
              </a:ext>
            </a:extLst>
          </p:cNvPr>
          <p:cNvSpPr/>
          <p:nvPr/>
        </p:nvSpPr>
        <p:spPr>
          <a:xfrm>
            <a:off x="2193436" y="4973738"/>
            <a:ext cx="2645233" cy="62012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CC4 (Protection):</a:t>
            </a:r>
            <a:r>
              <a:rPr lang="en-US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ขีดความสามารถในการป้องกันภัย</a:t>
            </a:r>
            <a:r>
              <a:rPr lang="th-TH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ผิวน้ำ ใต้น้ำ และ</a:t>
            </a:r>
            <a:r>
              <a:rPr lang="en-US" sz="12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ทางอากาศให้กับกองเรือเฉพาะกิจและขบวนเรือพาณิชย์</a:t>
            </a:r>
            <a:endParaRPr lang="en-US" sz="12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TextBox 30">
            <a:extLst>
              <a:ext uri="{FF2B5EF4-FFF2-40B4-BE49-F238E27FC236}">
                <a16:creationId xmlns:a16="http://schemas.microsoft.com/office/drawing/2014/main" id="{051C7E3B-DAE5-B279-2AAE-6273D95291A8}"/>
              </a:ext>
            </a:extLst>
          </p:cNvPr>
          <p:cNvSpPr txBox="1"/>
          <p:nvPr/>
        </p:nvSpPr>
        <p:spPr>
          <a:xfrm>
            <a:off x="338028" y="1375330"/>
            <a:ext cx="1162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COG</a:t>
            </a:r>
            <a:endParaRPr lang="th-TH" sz="36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TextBox 31">
            <a:extLst>
              <a:ext uri="{FF2B5EF4-FFF2-40B4-BE49-F238E27FC236}">
                <a16:creationId xmlns:a16="http://schemas.microsoft.com/office/drawing/2014/main" id="{A53D37A0-38D8-0FC0-BA34-491B2202694C}"/>
              </a:ext>
            </a:extLst>
          </p:cNvPr>
          <p:cNvSpPr txBox="1"/>
          <p:nvPr/>
        </p:nvSpPr>
        <p:spPr>
          <a:xfrm>
            <a:off x="720435" y="1111246"/>
            <a:ext cx="5375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CC</a:t>
            </a:r>
            <a:endParaRPr lang="th-TH" sz="36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" name="Rectangle: Rounded Corners 67">
            <a:extLst>
              <a:ext uri="{FF2B5EF4-FFF2-40B4-BE49-F238E27FC236}">
                <a16:creationId xmlns:a16="http://schemas.microsoft.com/office/drawing/2014/main" id="{52B6A6A0-DA6A-79FE-38BA-91DF6781FE9D}"/>
              </a:ext>
            </a:extLst>
          </p:cNvPr>
          <p:cNvSpPr/>
          <p:nvPr/>
        </p:nvSpPr>
        <p:spPr>
          <a:xfrm>
            <a:off x="2193435" y="6132751"/>
            <a:ext cx="2645233" cy="41720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CC</a:t>
            </a:r>
            <a:r>
              <a:rPr lang="th-TH" sz="1200" b="1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5</a:t>
            </a:r>
            <a:r>
              <a:rPr lang="en-US" sz="1200" b="1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(Sustainment):</a:t>
            </a:r>
            <a:r>
              <a:rPr lang="en-US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ขีดความสามารถในการ</a:t>
            </a:r>
            <a:r>
              <a:rPr lang="th-TH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ส่งกำลังบำรุงและการซ่อมทำ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D386B7CF-9375-14AA-8BB9-9CC4DC3294FE}"/>
              </a:ext>
            </a:extLst>
          </p:cNvPr>
          <p:cNvSpPr txBox="1"/>
          <p:nvPr/>
        </p:nvSpPr>
        <p:spPr>
          <a:xfrm>
            <a:off x="152289" y="3218684"/>
            <a:ext cx="1839575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หมวดเรือควบคุมทะเล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(Sea Control Task Group)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หมวดเรือโจมตีสะเทินน้ำสะเทินบก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(Amphibious Task Group)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หมวดเรือคุ้มกันและป้องกันภัยทางอากาศ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(Escort &amp; Air Defense Task Group)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หมวดเรือส่งกำลังบำรุง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(Logistics Task Group)</a:t>
            </a: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BE73700E-CE11-4E38-044A-199B78F8D572}"/>
              </a:ext>
            </a:extLst>
          </p:cNvPr>
          <p:cNvSpPr/>
          <p:nvPr/>
        </p:nvSpPr>
        <p:spPr>
          <a:xfrm>
            <a:off x="5919654" y="1900531"/>
            <a:ext cx="1850955" cy="29196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เสาสื่อสาร HF/ไมโครเวฟชายฝั่ง</a:t>
            </a:r>
            <a:endParaRPr lang="en-US" sz="8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Rectangle: Rounded Corners 16">
            <a:extLst>
              <a:ext uri="{FF2B5EF4-FFF2-40B4-BE49-F238E27FC236}">
                <a16:creationId xmlns:a16="http://schemas.microsoft.com/office/drawing/2014/main" id="{3FC5F1C7-E7FC-E6B7-6EBC-8E92A63A1E34}"/>
              </a:ext>
            </a:extLst>
          </p:cNvPr>
          <p:cNvSpPr/>
          <p:nvPr/>
        </p:nvSpPr>
        <p:spPr>
          <a:xfrm>
            <a:off x="5919654" y="1488808"/>
            <a:ext cx="1850956" cy="29196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ระบบเครือข่ายเชื่อมโยงข้อมูล</a:t>
            </a:r>
            <a:r>
              <a:rPr lang="en-US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(DEFNET)</a:t>
            </a:r>
            <a:endParaRPr lang="en-US" sz="7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5" name="Rectangle: Rounded Corners 17">
            <a:extLst>
              <a:ext uri="{FF2B5EF4-FFF2-40B4-BE49-F238E27FC236}">
                <a16:creationId xmlns:a16="http://schemas.microsoft.com/office/drawing/2014/main" id="{74240134-B8E8-143D-F1A2-565E4A9110A1}"/>
              </a:ext>
            </a:extLst>
          </p:cNvPr>
          <p:cNvSpPr/>
          <p:nvPr/>
        </p:nvSpPr>
        <p:spPr>
          <a:xfrm>
            <a:off x="5919654" y="2345424"/>
            <a:ext cx="1850954" cy="29196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</a:t>
            </a:r>
            <a:r>
              <a:rPr lang="en-US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รดาร์ตรวจการณ์</a:t>
            </a:r>
            <a:endParaRPr lang="en-US" sz="10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8" name="Rectangle: Rounded Corners 20">
            <a:extLst>
              <a:ext uri="{FF2B5EF4-FFF2-40B4-BE49-F238E27FC236}">
                <a16:creationId xmlns:a16="http://schemas.microsoft.com/office/drawing/2014/main" id="{F28ABD86-0DAA-6B72-6AE6-CCEF719CCBF0}"/>
              </a:ext>
            </a:extLst>
          </p:cNvPr>
          <p:cNvSpPr/>
          <p:nvPr/>
        </p:nvSpPr>
        <p:spPr>
          <a:xfrm>
            <a:off x="5919654" y="2765510"/>
            <a:ext cx="1850954" cy="28115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4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เรือผิวน้ำรบ ๓ มิติ (</a:t>
            </a:r>
            <a:r>
              <a:rPr lang="en-US" sz="14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DDG, FFG)</a:t>
            </a:r>
          </a:p>
        </p:txBody>
      </p:sp>
      <p:sp>
        <p:nvSpPr>
          <p:cNvPr id="20" name="Rectangle: Rounded Corners 22">
            <a:extLst>
              <a:ext uri="{FF2B5EF4-FFF2-40B4-BE49-F238E27FC236}">
                <a16:creationId xmlns:a16="http://schemas.microsoft.com/office/drawing/2014/main" id="{0A39D518-A3BF-8B08-1553-FD1F5579B4FD}"/>
              </a:ext>
            </a:extLst>
          </p:cNvPr>
          <p:cNvSpPr/>
          <p:nvPr/>
        </p:nvSpPr>
        <p:spPr>
          <a:xfrm>
            <a:off x="9066040" y="1739569"/>
            <a:ext cx="1554480" cy="5486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เสาวิทยุ</a:t>
            </a:r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HF</a:t>
            </a:r>
          </a:p>
        </p:txBody>
      </p:sp>
      <p:sp>
        <p:nvSpPr>
          <p:cNvPr id="21" name="Rectangle: Rounded Corners 23">
            <a:extLst>
              <a:ext uri="{FF2B5EF4-FFF2-40B4-BE49-F238E27FC236}">
                <a16:creationId xmlns:a16="http://schemas.microsoft.com/office/drawing/2014/main" id="{CF496D1A-AA96-C92D-9543-59CA527F0CC8}"/>
              </a:ext>
            </a:extLst>
          </p:cNvPr>
          <p:cNvSpPr/>
          <p:nvPr/>
        </p:nvSpPr>
        <p:spPr>
          <a:xfrm>
            <a:off x="9066040" y="2527832"/>
            <a:ext cx="1554480" cy="5486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สถานี</a:t>
            </a:r>
            <a:r>
              <a:rPr lang="th-TH" sz="16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เร</a:t>
            </a:r>
            <a:r>
              <a:rPr lang="th-TH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ดา</a:t>
            </a:r>
            <a:r>
              <a:rPr lang="th-TH" sz="16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ห์</a:t>
            </a:r>
            <a:r>
              <a:rPr lang="th-TH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ชายฝั่ง</a:t>
            </a:r>
            <a:endParaRPr lang="en-US" sz="16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2" name="Rectangle: Rounded Corners 24">
            <a:extLst>
              <a:ext uri="{FF2B5EF4-FFF2-40B4-BE49-F238E27FC236}">
                <a16:creationId xmlns:a16="http://schemas.microsoft.com/office/drawing/2014/main" id="{53657248-B634-439B-98EA-F4833D94C490}"/>
              </a:ext>
            </a:extLst>
          </p:cNvPr>
          <p:cNvSpPr/>
          <p:nvPr/>
        </p:nvSpPr>
        <p:spPr>
          <a:xfrm>
            <a:off x="9075275" y="4098377"/>
            <a:ext cx="2256753" cy="5486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60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เรือพาณิชย์ดัดแปลง (</a:t>
            </a:r>
            <a:r>
              <a:rPr lang="en-US" sz="160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Ro-Ro/Cargo)</a:t>
            </a:r>
            <a:endParaRPr lang="en-US" sz="16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3" name="Rectangle: Rounded Corners 25">
            <a:extLst>
              <a:ext uri="{FF2B5EF4-FFF2-40B4-BE49-F238E27FC236}">
                <a16:creationId xmlns:a16="http://schemas.microsoft.com/office/drawing/2014/main" id="{47B876AB-F858-9B1A-BD64-2DC3CC9EE4AA}"/>
              </a:ext>
            </a:extLst>
          </p:cNvPr>
          <p:cNvSpPr/>
          <p:nvPr/>
        </p:nvSpPr>
        <p:spPr>
          <a:xfrm>
            <a:off x="9093114" y="4811817"/>
            <a:ext cx="1554480" cy="5486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OILER</a:t>
            </a:r>
          </a:p>
        </p:txBody>
      </p:sp>
      <p:sp>
        <p:nvSpPr>
          <p:cNvPr id="24" name="Rectangle: Rounded Corners 26">
            <a:extLst>
              <a:ext uri="{FF2B5EF4-FFF2-40B4-BE49-F238E27FC236}">
                <a16:creationId xmlns:a16="http://schemas.microsoft.com/office/drawing/2014/main" id="{CE2F14A6-0D75-856A-31ED-2700080D40EC}"/>
              </a:ext>
            </a:extLst>
          </p:cNvPr>
          <p:cNvSpPr/>
          <p:nvPr/>
        </p:nvSpPr>
        <p:spPr>
          <a:xfrm>
            <a:off x="9075276" y="5570962"/>
            <a:ext cx="1554480" cy="5486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TANKER</a:t>
            </a:r>
          </a:p>
        </p:txBody>
      </p:sp>
      <p:sp>
        <p:nvSpPr>
          <p:cNvPr id="25" name="Rectangle: Rounded Corners 29">
            <a:extLst>
              <a:ext uri="{FF2B5EF4-FFF2-40B4-BE49-F238E27FC236}">
                <a16:creationId xmlns:a16="http://schemas.microsoft.com/office/drawing/2014/main" id="{EFB8786C-9175-E90B-15F9-4BCC19814CEC}"/>
              </a:ext>
            </a:extLst>
          </p:cNvPr>
          <p:cNvSpPr/>
          <p:nvPr/>
        </p:nvSpPr>
        <p:spPr>
          <a:xfrm>
            <a:off x="9075276" y="3316095"/>
            <a:ext cx="1554480" cy="5486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LPD</a:t>
            </a:r>
          </a:p>
        </p:txBody>
      </p:sp>
      <p:sp>
        <p:nvSpPr>
          <p:cNvPr id="26" name="TextBox 32">
            <a:extLst>
              <a:ext uri="{FF2B5EF4-FFF2-40B4-BE49-F238E27FC236}">
                <a16:creationId xmlns:a16="http://schemas.microsoft.com/office/drawing/2014/main" id="{CB90B09B-3682-4A1C-6387-C8808BD51AE3}"/>
              </a:ext>
            </a:extLst>
          </p:cNvPr>
          <p:cNvSpPr txBox="1"/>
          <p:nvPr/>
        </p:nvSpPr>
        <p:spPr>
          <a:xfrm>
            <a:off x="6219551" y="1040528"/>
            <a:ext cx="1162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CR</a:t>
            </a:r>
            <a:endParaRPr lang="th-TH" sz="36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7" name="TextBox 33">
            <a:extLst>
              <a:ext uri="{FF2B5EF4-FFF2-40B4-BE49-F238E27FC236}">
                <a16:creationId xmlns:a16="http://schemas.microsoft.com/office/drawing/2014/main" id="{44D4E525-5B1C-6418-E01F-2B48288CBBFE}"/>
              </a:ext>
            </a:extLst>
          </p:cNvPr>
          <p:cNvSpPr txBox="1"/>
          <p:nvPr/>
        </p:nvSpPr>
        <p:spPr>
          <a:xfrm>
            <a:off x="9289053" y="1134444"/>
            <a:ext cx="1162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CV</a:t>
            </a:r>
            <a:endParaRPr lang="th-TH" sz="36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8" name="Rectangle: Rounded Corners 20">
            <a:extLst>
              <a:ext uri="{FF2B5EF4-FFF2-40B4-BE49-F238E27FC236}">
                <a16:creationId xmlns:a16="http://schemas.microsoft.com/office/drawing/2014/main" id="{054C64C8-2C28-771F-C6A0-AF33A99F244A}"/>
              </a:ext>
            </a:extLst>
          </p:cNvPr>
          <p:cNvSpPr/>
          <p:nvPr/>
        </p:nvSpPr>
        <p:spPr>
          <a:xfrm>
            <a:off x="5919654" y="3193223"/>
            <a:ext cx="1850953" cy="28115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40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เรือดำน้ำ (</a:t>
            </a:r>
            <a:r>
              <a:rPr lang="en-US" sz="140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S-26T)</a:t>
            </a:r>
            <a:endParaRPr lang="en-US" sz="14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9" name="Rectangle: Rounded Corners 20">
            <a:extLst>
              <a:ext uri="{FF2B5EF4-FFF2-40B4-BE49-F238E27FC236}">
                <a16:creationId xmlns:a16="http://schemas.microsoft.com/office/drawing/2014/main" id="{7802AACA-49E0-D61E-058B-F7582450BA1D}"/>
              </a:ext>
            </a:extLst>
          </p:cNvPr>
          <p:cNvSpPr/>
          <p:nvPr/>
        </p:nvSpPr>
        <p:spPr>
          <a:xfrm>
            <a:off x="5919651" y="3580217"/>
            <a:ext cx="1850952" cy="28115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อากาศยานลาดตระเวน </a:t>
            </a:r>
            <a:r>
              <a:rPr lang="en-US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MPA/HELO</a:t>
            </a:r>
          </a:p>
        </p:txBody>
      </p:sp>
      <p:sp>
        <p:nvSpPr>
          <p:cNvPr id="30" name="Rectangle: Rounded Corners 20">
            <a:extLst>
              <a:ext uri="{FF2B5EF4-FFF2-40B4-BE49-F238E27FC236}">
                <a16:creationId xmlns:a16="http://schemas.microsoft.com/office/drawing/2014/main" id="{7B70D88F-8B7C-6ECE-D68D-116FB231DA87}"/>
              </a:ext>
            </a:extLst>
          </p:cNvPr>
          <p:cNvSpPr/>
          <p:nvPr/>
        </p:nvSpPr>
        <p:spPr>
          <a:xfrm>
            <a:off x="5919651" y="4091547"/>
            <a:ext cx="1850952" cy="28115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40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เรือยกพลขึ้นบก (</a:t>
            </a:r>
            <a:r>
              <a:rPr lang="en-US" sz="140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LHD/LPD)</a:t>
            </a:r>
            <a:endParaRPr lang="en-US" sz="14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2" name="Rectangle: Rounded Corners 20">
            <a:extLst>
              <a:ext uri="{FF2B5EF4-FFF2-40B4-BE49-F238E27FC236}">
                <a16:creationId xmlns:a16="http://schemas.microsoft.com/office/drawing/2014/main" id="{3EBC2F06-91A8-F899-E2E2-FCA4140B4E7A}"/>
              </a:ext>
            </a:extLst>
          </p:cNvPr>
          <p:cNvSpPr/>
          <p:nvPr/>
        </p:nvSpPr>
        <p:spPr>
          <a:xfrm>
            <a:off x="5919652" y="4646799"/>
            <a:ext cx="1850950" cy="28115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40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กำลังรบทางบกขนาด ๑ กรม ร.</a:t>
            </a:r>
            <a:endParaRPr lang="en-US" sz="14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4" name="Rectangle: Rounded Corners 20">
            <a:extLst>
              <a:ext uri="{FF2B5EF4-FFF2-40B4-BE49-F238E27FC236}">
                <a16:creationId xmlns:a16="http://schemas.microsoft.com/office/drawing/2014/main" id="{A9BD3417-2844-FC16-F49D-8BDF8D7DE7F2}"/>
              </a:ext>
            </a:extLst>
          </p:cNvPr>
          <p:cNvSpPr/>
          <p:nvPr/>
        </p:nvSpPr>
        <p:spPr>
          <a:xfrm>
            <a:off x="5919650" y="5109478"/>
            <a:ext cx="1850949" cy="28115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SAM/DECOY</a:t>
            </a:r>
          </a:p>
        </p:txBody>
      </p:sp>
      <p:sp>
        <p:nvSpPr>
          <p:cNvPr id="35" name="Rectangle: Rounded Corners 20">
            <a:extLst>
              <a:ext uri="{FF2B5EF4-FFF2-40B4-BE49-F238E27FC236}">
                <a16:creationId xmlns:a16="http://schemas.microsoft.com/office/drawing/2014/main" id="{37723636-F54E-620C-1606-6F0EB8A5D7B9}"/>
              </a:ext>
            </a:extLst>
          </p:cNvPr>
          <p:cNvSpPr/>
          <p:nvPr/>
        </p:nvSpPr>
        <p:spPr>
          <a:xfrm>
            <a:off x="5919651" y="5579648"/>
            <a:ext cx="1850948" cy="28115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CAP</a:t>
            </a:r>
            <a:endParaRPr lang="en-US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6" name="Rectangle: Rounded Corners 20">
            <a:extLst>
              <a:ext uri="{FF2B5EF4-FFF2-40B4-BE49-F238E27FC236}">
                <a16:creationId xmlns:a16="http://schemas.microsoft.com/office/drawing/2014/main" id="{3961D6F3-BC5B-0A05-83DA-C8D79AEAE78A}"/>
              </a:ext>
            </a:extLst>
          </p:cNvPr>
          <p:cNvSpPr/>
          <p:nvPr/>
        </p:nvSpPr>
        <p:spPr>
          <a:xfrm>
            <a:off x="5919651" y="5960501"/>
            <a:ext cx="1850948" cy="28115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เรือส่งกำลังบำรุง</a:t>
            </a:r>
            <a:endParaRPr lang="en-US" sz="16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7" name="Rectangle: Rounded Corners 20">
            <a:extLst>
              <a:ext uri="{FF2B5EF4-FFF2-40B4-BE49-F238E27FC236}">
                <a16:creationId xmlns:a16="http://schemas.microsoft.com/office/drawing/2014/main" id="{A0D79000-A39D-6306-0340-9EECED9C05C8}"/>
              </a:ext>
            </a:extLst>
          </p:cNvPr>
          <p:cNvSpPr/>
          <p:nvPr/>
        </p:nvSpPr>
        <p:spPr>
          <a:xfrm>
            <a:off x="5928886" y="6382226"/>
            <a:ext cx="1850948" cy="28115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ฐานทัพ/ท่าเรือ</a:t>
            </a:r>
            <a:endParaRPr lang="en-US" sz="16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39" name="ตัวเชื่อมต่อตรง 38">
            <a:extLst>
              <a:ext uri="{FF2B5EF4-FFF2-40B4-BE49-F238E27FC236}">
                <a16:creationId xmlns:a16="http://schemas.microsoft.com/office/drawing/2014/main" id="{8237408E-5D5B-8185-F132-DCD111008963}"/>
              </a:ext>
            </a:extLst>
          </p:cNvPr>
          <p:cNvCxnSpPr>
            <a:stCxn id="10" idx="3"/>
          </p:cNvCxnSpPr>
          <p:nvPr/>
        </p:nvCxnSpPr>
        <p:spPr>
          <a:xfrm flipV="1">
            <a:off x="4762468" y="1645677"/>
            <a:ext cx="1119080" cy="4330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ตัวเชื่อมต่อตรง 39">
            <a:extLst>
              <a:ext uri="{FF2B5EF4-FFF2-40B4-BE49-F238E27FC236}">
                <a16:creationId xmlns:a16="http://schemas.microsoft.com/office/drawing/2014/main" id="{EC51976A-3933-9E7F-8442-9C22BAE12E51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4762468" y="2046515"/>
            <a:ext cx="1157186" cy="322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ตัวเชื่อมต่อตรง 42">
            <a:extLst>
              <a:ext uri="{FF2B5EF4-FFF2-40B4-BE49-F238E27FC236}">
                <a16:creationId xmlns:a16="http://schemas.microsoft.com/office/drawing/2014/main" id="{4689F4F6-482D-86F2-05B0-EA52920445BA}"/>
              </a:ext>
            </a:extLst>
          </p:cNvPr>
          <p:cNvCxnSpPr>
            <a:cxnSpLocks/>
            <a:stCxn id="10" idx="3"/>
            <a:endCxn id="15" idx="1"/>
          </p:cNvCxnSpPr>
          <p:nvPr/>
        </p:nvCxnSpPr>
        <p:spPr>
          <a:xfrm>
            <a:off x="4762468" y="2078740"/>
            <a:ext cx="1157186" cy="4126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ตัวเชื่อมต่อตรง 45">
            <a:extLst>
              <a:ext uri="{FF2B5EF4-FFF2-40B4-BE49-F238E27FC236}">
                <a16:creationId xmlns:a16="http://schemas.microsoft.com/office/drawing/2014/main" id="{8AC8F3B7-E333-88EA-F037-4590AC7CD57D}"/>
              </a:ext>
            </a:extLst>
          </p:cNvPr>
          <p:cNvCxnSpPr>
            <a:cxnSpLocks/>
            <a:stCxn id="10" idx="3"/>
            <a:endCxn id="18" idx="1"/>
          </p:cNvCxnSpPr>
          <p:nvPr/>
        </p:nvCxnSpPr>
        <p:spPr>
          <a:xfrm>
            <a:off x="4762468" y="2078740"/>
            <a:ext cx="1157186" cy="8273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ตัวเชื่อมต่อตรง 48">
            <a:extLst>
              <a:ext uri="{FF2B5EF4-FFF2-40B4-BE49-F238E27FC236}">
                <a16:creationId xmlns:a16="http://schemas.microsoft.com/office/drawing/2014/main" id="{E09C7F11-543C-8DA7-DE13-F18DB3D2AC03}"/>
              </a:ext>
            </a:extLst>
          </p:cNvPr>
          <p:cNvCxnSpPr>
            <a:cxnSpLocks/>
            <a:stCxn id="8" idx="3"/>
            <a:endCxn id="18" idx="1"/>
          </p:cNvCxnSpPr>
          <p:nvPr/>
        </p:nvCxnSpPr>
        <p:spPr>
          <a:xfrm flipV="1">
            <a:off x="4838671" y="2906085"/>
            <a:ext cx="1080983" cy="26437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ตัวเชื่อมต่อตรง 50">
            <a:extLst>
              <a:ext uri="{FF2B5EF4-FFF2-40B4-BE49-F238E27FC236}">
                <a16:creationId xmlns:a16="http://schemas.microsoft.com/office/drawing/2014/main" id="{DB71328C-29E0-C281-2EF0-636009C5C505}"/>
              </a:ext>
            </a:extLst>
          </p:cNvPr>
          <p:cNvCxnSpPr>
            <a:cxnSpLocks/>
            <a:stCxn id="8" idx="3"/>
            <a:endCxn id="28" idx="1"/>
          </p:cNvCxnSpPr>
          <p:nvPr/>
        </p:nvCxnSpPr>
        <p:spPr>
          <a:xfrm>
            <a:off x="4838671" y="3170460"/>
            <a:ext cx="1080983" cy="16333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ตัวเชื่อมต่อตรง 53">
            <a:extLst>
              <a:ext uri="{FF2B5EF4-FFF2-40B4-BE49-F238E27FC236}">
                <a16:creationId xmlns:a16="http://schemas.microsoft.com/office/drawing/2014/main" id="{142A4976-BA98-2A6C-236E-0C41A1F66E54}"/>
              </a:ext>
            </a:extLst>
          </p:cNvPr>
          <p:cNvCxnSpPr>
            <a:cxnSpLocks/>
            <a:stCxn id="8" idx="3"/>
            <a:endCxn id="29" idx="1"/>
          </p:cNvCxnSpPr>
          <p:nvPr/>
        </p:nvCxnSpPr>
        <p:spPr>
          <a:xfrm>
            <a:off x="4838671" y="3170460"/>
            <a:ext cx="1080980" cy="55033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ตัวเชื่อมต่อตรง 57">
            <a:extLst>
              <a:ext uri="{FF2B5EF4-FFF2-40B4-BE49-F238E27FC236}">
                <a16:creationId xmlns:a16="http://schemas.microsoft.com/office/drawing/2014/main" id="{EB502BD5-3EE1-7EC5-38C7-740EF76A7C39}"/>
              </a:ext>
            </a:extLst>
          </p:cNvPr>
          <p:cNvCxnSpPr>
            <a:cxnSpLocks/>
            <a:stCxn id="8" idx="3"/>
            <a:endCxn id="34" idx="1"/>
          </p:cNvCxnSpPr>
          <p:nvPr/>
        </p:nvCxnSpPr>
        <p:spPr>
          <a:xfrm>
            <a:off x="4838671" y="3170460"/>
            <a:ext cx="1080979" cy="207959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ตัวเชื่อมต่อตรง 60">
            <a:extLst>
              <a:ext uri="{FF2B5EF4-FFF2-40B4-BE49-F238E27FC236}">
                <a16:creationId xmlns:a16="http://schemas.microsoft.com/office/drawing/2014/main" id="{27CD574B-D88D-F12D-D964-813652F8B5D5}"/>
              </a:ext>
            </a:extLst>
          </p:cNvPr>
          <p:cNvCxnSpPr>
            <a:cxnSpLocks/>
            <a:stCxn id="8" idx="3"/>
            <a:endCxn id="35" idx="1"/>
          </p:cNvCxnSpPr>
          <p:nvPr/>
        </p:nvCxnSpPr>
        <p:spPr>
          <a:xfrm>
            <a:off x="4838671" y="3170460"/>
            <a:ext cx="1080980" cy="254976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ตัวเชื่อมต่อตรง 63">
            <a:extLst>
              <a:ext uri="{FF2B5EF4-FFF2-40B4-BE49-F238E27FC236}">
                <a16:creationId xmlns:a16="http://schemas.microsoft.com/office/drawing/2014/main" id="{4FCC37DF-FBB5-E367-8A00-53BEDBC7554C}"/>
              </a:ext>
            </a:extLst>
          </p:cNvPr>
          <p:cNvCxnSpPr>
            <a:cxnSpLocks/>
            <a:stCxn id="9" idx="3"/>
            <a:endCxn id="30" idx="1"/>
          </p:cNvCxnSpPr>
          <p:nvPr/>
        </p:nvCxnSpPr>
        <p:spPr>
          <a:xfrm flipV="1">
            <a:off x="4838669" y="4232122"/>
            <a:ext cx="1080982" cy="30058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ตัวเชื่อมต่อตรง 69">
            <a:extLst>
              <a:ext uri="{FF2B5EF4-FFF2-40B4-BE49-F238E27FC236}">
                <a16:creationId xmlns:a16="http://schemas.microsoft.com/office/drawing/2014/main" id="{8D89F15A-85E3-C08D-6575-0B987EAC2B53}"/>
              </a:ext>
            </a:extLst>
          </p:cNvPr>
          <p:cNvCxnSpPr>
            <a:cxnSpLocks/>
            <a:stCxn id="9" idx="3"/>
            <a:endCxn id="32" idx="1"/>
          </p:cNvCxnSpPr>
          <p:nvPr/>
        </p:nvCxnSpPr>
        <p:spPr>
          <a:xfrm>
            <a:off x="4838669" y="4262180"/>
            <a:ext cx="1080983" cy="525194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ตัวเชื่อมต่อตรง 72">
            <a:extLst>
              <a:ext uri="{FF2B5EF4-FFF2-40B4-BE49-F238E27FC236}">
                <a16:creationId xmlns:a16="http://schemas.microsoft.com/office/drawing/2014/main" id="{292D88C3-E1EA-53C0-F5BF-562734E60216}"/>
              </a:ext>
            </a:extLst>
          </p:cNvPr>
          <p:cNvCxnSpPr>
            <a:cxnSpLocks/>
            <a:stCxn id="11" idx="3"/>
            <a:endCxn id="34" idx="1"/>
          </p:cNvCxnSpPr>
          <p:nvPr/>
        </p:nvCxnSpPr>
        <p:spPr>
          <a:xfrm flipV="1">
            <a:off x="4838669" y="5250053"/>
            <a:ext cx="1080981" cy="33749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ตัวเชื่อมต่อตรง 74">
            <a:extLst>
              <a:ext uri="{FF2B5EF4-FFF2-40B4-BE49-F238E27FC236}">
                <a16:creationId xmlns:a16="http://schemas.microsoft.com/office/drawing/2014/main" id="{0B22926F-DD16-E73A-37A1-57714BC3B1B5}"/>
              </a:ext>
            </a:extLst>
          </p:cNvPr>
          <p:cNvCxnSpPr>
            <a:cxnSpLocks/>
            <a:stCxn id="11" idx="3"/>
            <a:endCxn id="35" idx="1"/>
          </p:cNvCxnSpPr>
          <p:nvPr/>
        </p:nvCxnSpPr>
        <p:spPr>
          <a:xfrm>
            <a:off x="4838669" y="5283802"/>
            <a:ext cx="1080982" cy="436421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ตัวเชื่อมต่อตรง 77">
            <a:extLst>
              <a:ext uri="{FF2B5EF4-FFF2-40B4-BE49-F238E27FC236}">
                <a16:creationId xmlns:a16="http://schemas.microsoft.com/office/drawing/2014/main" id="{B8365C1C-A1C3-3C8C-6E5A-32A50F9CB36A}"/>
              </a:ext>
            </a:extLst>
          </p:cNvPr>
          <p:cNvCxnSpPr>
            <a:cxnSpLocks/>
            <a:stCxn id="11" idx="3"/>
            <a:endCxn id="18" idx="1"/>
          </p:cNvCxnSpPr>
          <p:nvPr/>
        </p:nvCxnSpPr>
        <p:spPr>
          <a:xfrm flipV="1">
            <a:off x="4838669" y="2906085"/>
            <a:ext cx="1080985" cy="2377717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ตัวเชื่อมต่อตรง 80">
            <a:extLst>
              <a:ext uri="{FF2B5EF4-FFF2-40B4-BE49-F238E27FC236}">
                <a16:creationId xmlns:a16="http://schemas.microsoft.com/office/drawing/2014/main" id="{2FBC284A-2005-2E30-BE51-8E7C21D8EAAA}"/>
              </a:ext>
            </a:extLst>
          </p:cNvPr>
          <p:cNvCxnSpPr>
            <a:cxnSpLocks/>
            <a:endCxn id="36" idx="1"/>
          </p:cNvCxnSpPr>
          <p:nvPr/>
        </p:nvCxnSpPr>
        <p:spPr>
          <a:xfrm flipV="1">
            <a:off x="4890268" y="6101076"/>
            <a:ext cx="1029383" cy="135316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ตัวเชื่อมต่อตรง 82">
            <a:extLst>
              <a:ext uri="{FF2B5EF4-FFF2-40B4-BE49-F238E27FC236}">
                <a16:creationId xmlns:a16="http://schemas.microsoft.com/office/drawing/2014/main" id="{0D9E04A1-D548-4DDC-02EC-AA154280B332}"/>
              </a:ext>
            </a:extLst>
          </p:cNvPr>
          <p:cNvCxnSpPr>
            <a:cxnSpLocks/>
            <a:stCxn id="14" idx="3"/>
            <a:endCxn id="37" idx="1"/>
          </p:cNvCxnSpPr>
          <p:nvPr/>
        </p:nvCxnSpPr>
        <p:spPr>
          <a:xfrm>
            <a:off x="4838668" y="6341355"/>
            <a:ext cx="1090218" cy="181446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ตัวเชื่อมต่อตรง 109">
            <a:extLst>
              <a:ext uri="{FF2B5EF4-FFF2-40B4-BE49-F238E27FC236}">
                <a16:creationId xmlns:a16="http://schemas.microsoft.com/office/drawing/2014/main" id="{2ED83705-E7E7-7EFB-91A6-50450A3DD71E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7770599" y="2013889"/>
            <a:ext cx="1295441" cy="43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ตัวเชื่อมต่อตรง 111">
            <a:extLst>
              <a:ext uri="{FF2B5EF4-FFF2-40B4-BE49-F238E27FC236}">
                <a16:creationId xmlns:a16="http://schemas.microsoft.com/office/drawing/2014/main" id="{A911AD50-4C40-702D-E58E-995D622D5880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7779834" y="2512957"/>
            <a:ext cx="1286206" cy="289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ตัวเชื่อมต่อตรง 113">
            <a:extLst>
              <a:ext uri="{FF2B5EF4-FFF2-40B4-BE49-F238E27FC236}">
                <a16:creationId xmlns:a16="http://schemas.microsoft.com/office/drawing/2014/main" id="{8BE9A353-CBDF-1620-2569-7A619D66F63D}"/>
              </a:ext>
            </a:extLst>
          </p:cNvPr>
          <p:cNvCxnSpPr>
            <a:cxnSpLocks/>
            <a:stCxn id="30" idx="3"/>
            <a:endCxn id="25" idx="1"/>
          </p:cNvCxnSpPr>
          <p:nvPr/>
        </p:nvCxnSpPr>
        <p:spPr>
          <a:xfrm flipV="1">
            <a:off x="7770603" y="3590415"/>
            <a:ext cx="1304673" cy="641707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ตัวเชื่อมต่อตรง 122">
            <a:extLst>
              <a:ext uri="{FF2B5EF4-FFF2-40B4-BE49-F238E27FC236}">
                <a16:creationId xmlns:a16="http://schemas.microsoft.com/office/drawing/2014/main" id="{E42C50EC-635F-99A5-75FE-3574BD3FC2F9}"/>
              </a:ext>
            </a:extLst>
          </p:cNvPr>
          <p:cNvCxnSpPr>
            <a:cxnSpLocks/>
            <a:stCxn id="30" idx="3"/>
            <a:endCxn id="22" idx="1"/>
          </p:cNvCxnSpPr>
          <p:nvPr/>
        </p:nvCxnSpPr>
        <p:spPr>
          <a:xfrm>
            <a:off x="7770603" y="4232122"/>
            <a:ext cx="1304672" cy="140575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ตัวเชื่อมต่อตรง 125">
            <a:extLst>
              <a:ext uri="{FF2B5EF4-FFF2-40B4-BE49-F238E27FC236}">
                <a16:creationId xmlns:a16="http://schemas.microsoft.com/office/drawing/2014/main" id="{13CF87C2-B627-A36A-DD97-1C8663D586C7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7761368" y="5086137"/>
            <a:ext cx="1331746" cy="1036103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ตัวเชื่อมต่อตรง 127">
            <a:extLst>
              <a:ext uri="{FF2B5EF4-FFF2-40B4-BE49-F238E27FC236}">
                <a16:creationId xmlns:a16="http://schemas.microsoft.com/office/drawing/2014/main" id="{0F6BD62F-174E-1FE4-47CC-DC557434C92E}"/>
              </a:ext>
            </a:extLst>
          </p:cNvPr>
          <p:cNvCxnSpPr>
            <a:cxnSpLocks/>
            <a:stCxn id="36" idx="3"/>
            <a:endCxn id="24" idx="1"/>
          </p:cNvCxnSpPr>
          <p:nvPr/>
        </p:nvCxnSpPr>
        <p:spPr>
          <a:xfrm flipV="1">
            <a:off x="7770599" y="5845282"/>
            <a:ext cx="1304677" cy="255794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844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EBC2C-FC75-1F3A-3C88-07CB4E46F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C21EE643-06E5-70F5-36A6-BE7B837AA29B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</a:t>
            </a:r>
            <a:endParaRPr lang="en-US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๓ ประเมินความเสี่ยงเบื้องต้น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D8CBE93E-5AEB-59FB-5D85-3BEF5334488F}"/>
              </a:ext>
            </a:extLst>
          </p:cNvPr>
          <p:cNvGraphicFramePr>
            <a:graphicFrameLocks noGrp="1"/>
          </p:cNvGraphicFramePr>
          <p:nvPr/>
        </p:nvGraphicFramePr>
        <p:xfrm>
          <a:off x="152401" y="1173952"/>
          <a:ext cx="11887198" cy="5584672"/>
        </p:xfrm>
        <a:graphic>
          <a:graphicData uri="http://schemas.openxmlformats.org/drawingml/2006/table">
            <a:tbl>
              <a:tblPr firstRow="1" firstCol="1" bandRow="1"/>
              <a:tblGrid>
                <a:gridCol w="4766928">
                  <a:extLst>
                    <a:ext uri="{9D8B030D-6E8A-4147-A177-3AD203B41FA5}">
                      <a16:colId xmlns:a16="http://schemas.microsoft.com/office/drawing/2014/main" val="305719492"/>
                    </a:ext>
                  </a:extLst>
                </a:gridCol>
                <a:gridCol w="800987">
                  <a:extLst>
                    <a:ext uri="{9D8B030D-6E8A-4147-A177-3AD203B41FA5}">
                      <a16:colId xmlns:a16="http://schemas.microsoft.com/office/drawing/2014/main" val="3412928718"/>
                    </a:ext>
                  </a:extLst>
                </a:gridCol>
                <a:gridCol w="839061">
                  <a:extLst>
                    <a:ext uri="{9D8B030D-6E8A-4147-A177-3AD203B41FA5}">
                      <a16:colId xmlns:a16="http://schemas.microsoft.com/office/drawing/2014/main" val="1301998655"/>
                    </a:ext>
                  </a:extLst>
                </a:gridCol>
                <a:gridCol w="3297004">
                  <a:extLst>
                    <a:ext uri="{9D8B030D-6E8A-4147-A177-3AD203B41FA5}">
                      <a16:colId xmlns:a16="http://schemas.microsoft.com/office/drawing/2014/main" val="3536946179"/>
                    </a:ext>
                  </a:extLst>
                </a:gridCol>
                <a:gridCol w="1019688">
                  <a:extLst>
                    <a:ext uri="{9D8B030D-6E8A-4147-A177-3AD203B41FA5}">
                      <a16:colId xmlns:a16="http://schemas.microsoft.com/office/drawing/2014/main" val="1375736046"/>
                    </a:ext>
                  </a:extLst>
                </a:gridCol>
                <a:gridCol w="570129">
                  <a:extLst>
                    <a:ext uri="{9D8B030D-6E8A-4147-A177-3AD203B41FA5}">
                      <a16:colId xmlns:a16="http://schemas.microsoft.com/office/drawing/2014/main" val="3699976893"/>
                    </a:ext>
                  </a:extLst>
                </a:gridCol>
                <a:gridCol w="593401">
                  <a:extLst>
                    <a:ext uri="{9D8B030D-6E8A-4147-A177-3AD203B41FA5}">
                      <a16:colId xmlns:a16="http://schemas.microsoft.com/office/drawing/2014/main" val="1968053261"/>
                    </a:ext>
                  </a:extLst>
                </a:gridCol>
              </a:tblGrid>
              <a:tr h="3023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2000" b="1" kern="100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ความเสี่ยง</a:t>
                      </a:r>
                      <a:endParaRPr lang="en-US" sz="1400" b="1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600" b="1" kern="100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โอกาส</a:t>
                      </a:r>
                      <a:endParaRPr lang="en-US" sz="1100" b="1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600" b="1" kern="10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ความรุนแรง</a:t>
                      </a:r>
                      <a:endParaRPr lang="en-US" sz="1100" b="1" kern="10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600" b="1" kern="100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การบริหารความเสี่ยง</a:t>
                      </a:r>
                      <a:endParaRPr lang="en-US" sz="1100" b="1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600" b="1" kern="100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ความรุนแรงลดลง</a:t>
                      </a:r>
                      <a:endParaRPr lang="en-US" sz="1100" b="1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Risk to force</a:t>
                      </a:r>
                      <a:endParaRPr lang="en-US" sz="1100" b="1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Risk to mission</a:t>
                      </a:r>
                      <a:endParaRPr lang="en-US" sz="1100" b="1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323583"/>
                  </a:ext>
                </a:extLst>
              </a:tr>
              <a:tr h="5938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8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เวลาในการเตรียมการ ระดมสรรพกำลัง ไม่เพียงพอต่อการปฏิบัติการ</a:t>
                      </a:r>
                      <a:endParaRPr lang="en-US" sz="18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600" u="none" strike="noStrike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 </a:t>
                      </a: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600" u="none" strike="noStrike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 </a:t>
                      </a: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600" u="none" strike="noStrike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 </a:t>
                      </a: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142530"/>
                  </a:ext>
                </a:extLst>
              </a:tr>
              <a:tr h="5938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ความเสี่ยงในการส่งกำลังบำรุงของกำลังทางบก</a:t>
                      </a:r>
                      <a:endParaRPr lang="en-US" sz="18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919795"/>
                  </a:ext>
                </a:extLst>
              </a:tr>
              <a:tr h="5209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8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เวลาในการส่งกำลังบำรุงของกองเรือใหญ่</a:t>
                      </a:r>
                      <a:endParaRPr lang="en-US" sz="18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600" u="none" strike="noStrike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 </a:t>
                      </a: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600" u="none" strike="noStrike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 </a:t>
                      </a: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600" u="none" strike="noStrike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 </a:t>
                      </a: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172113"/>
                  </a:ext>
                </a:extLst>
              </a:tr>
              <a:tr h="4938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8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ความเสี่ยงในการระดมกำลังพล จัดหากำลังพลทดแทน</a:t>
                      </a:r>
                      <a:endParaRPr lang="en-US" sz="18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4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กำหนดเวลาวางแผนในการระดมพลให้ทันตามกรอบเวลา</a:t>
                      </a:r>
                      <a:endParaRPr lang="en-US" sz="1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023953"/>
                  </a:ext>
                </a:extLst>
              </a:tr>
              <a:tr h="5635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8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สูญเสียขีดความสามารถของโครงสร้างพื้นฐานบนเกาะ </a:t>
                      </a:r>
                      <a:r>
                        <a:rPr lang="en-US" sz="18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TALOS</a:t>
                      </a: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เพิ่มมาตรการรักษาความปลอดภัย(มิติกายภาพ/ไซเบอร์)</a:t>
                      </a:r>
                      <a:endParaRPr lang="en-US" sz="16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340292"/>
                  </a:ext>
                </a:extLst>
              </a:tr>
              <a:tr h="5635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กองเรือ </a:t>
                      </a:r>
                      <a:r>
                        <a:rPr lang="th-TH" sz="1600" kern="100" dirty="0" err="1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ทร</a:t>
                      </a: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.</a:t>
                      </a:r>
                      <a:r>
                        <a:rPr lang="en-US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AZ </a:t>
                      </a: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ไม่มีขีดความสามารถการป้องกันภัย</a:t>
                      </a:r>
                      <a:r>
                        <a:rPr lang="en-US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Area Air Defense </a:t>
                      </a: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มีเพียงระบบ </a:t>
                      </a:r>
                      <a:r>
                        <a:rPr lang="en-US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Point Defense</a:t>
                      </a:r>
                      <a:endParaRPr lang="en-US" sz="11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ร้องขอ ทอ.</a:t>
                      </a:r>
                      <a:r>
                        <a:rPr lang="en-US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AZ </a:t>
                      </a: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สนับสนุน</a:t>
                      </a:r>
                      <a:r>
                        <a:rPr lang="th-TH" sz="1200" kern="100" dirty="0" err="1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การทำ</a:t>
                      </a: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en-US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Air Superiority </a:t>
                      </a: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และจัด บ.คุ้มกันกองเรือ (</a:t>
                      </a:r>
                      <a:r>
                        <a:rPr lang="en-US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CAP) </a:t>
                      </a: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ตลอดห้วงเวลาปฏิบัติการทางทะเล</a:t>
                      </a:r>
                      <a:endParaRPr lang="en-US" sz="10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119184"/>
                  </a:ext>
                </a:extLst>
              </a:tr>
              <a:tr h="563526">
                <a:tc>
                  <a:txBody>
                    <a:bodyPr/>
                    <a:lstStyle/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ทอ.</a:t>
                      </a:r>
                      <a:r>
                        <a:rPr lang="en-US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AZ </a:t>
                      </a: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ไม่สามารถสนับสนุนการปฏิบัติการในเวลากลางคืนได้ และไม่มีอาวุธปล่อยนำวิถีโจมตีเรือผิวน้ำ</a:t>
                      </a:r>
                      <a:endParaRPr lang="en-US" sz="11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 </a:t>
                      </a:r>
                      <a:endParaRPr lang="en-US" sz="11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การทำลายเป้าหมายเรือผิวน้ำข้าศึกให้เป็นความรับผิดชอบหลักของ </a:t>
                      </a:r>
                      <a:r>
                        <a:rPr lang="th-TH" sz="1200" kern="100" dirty="0" err="1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ทร</a:t>
                      </a: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.</a:t>
                      </a:r>
                      <a:r>
                        <a:rPr lang="en-US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AZ </a:t>
                      </a: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ส่วน ทอ.</a:t>
                      </a:r>
                      <a:r>
                        <a:rPr lang="en-US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AZ </a:t>
                      </a: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จะเน้น</a:t>
                      </a:r>
                      <a:r>
                        <a:rPr lang="th-TH" sz="1200" kern="100" dirty="0" err="1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การทำ</a:t>
                      </a: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en-US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CAS </a:t>
                      </a: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ในเวลากลางวัน และใช้ ป.สนามของ ทบ. ในการยิงสนับสนุนเวลากลางคืน</a:t>
                      </a:r>
                      <a:endParaRPr lang="en-US" sz="10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194626"/>
                  </a:ext>
                </a:extLst>
              </a:tr>
              <a:tr h="5635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ฝ่ายข้าศึก (</a:t>
                      </a:r>
                      <a:r>
                        <a:rPr lang="en-US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WL) </a:t>
                      </a: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มีขีดความสามารถด้านสงครามอิเล็กทรอนิกส์ การกวนสัญญาณ </a:t>
                      </a:r>
                      <a:r>
                        <a:rPr lang="en-US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GPS (Jamming-Spoofing) </a:t>
                      </a: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สูง ในขณะที่ </a:t>
                      </a:r>
                      <a:r>
                        <a:rPr lang="th-TH" sz="1600" kern="100" dirty="0" err="1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ทร</a:t>
                      </a: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.</a:t>
                      </a:r>
                      <a:r>
                        <a:rPr lang="en-US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AZ </a:t>
                      </a: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มีขีดความสามารถ </a:t>
                      </a:r>
                      <a:r>
                        <a:rPr lang="en-US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EW </a:t>
                      </a: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จำกัดในระดับกองเรือ</a:t>
                      </a:r>
                      <a:endParaRPr lang="en-US" sz="11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กำหนดพื้นที่ปฏิบัติการและเตรียมแผนเดินเรือสำรอง วางเครือข่ายสื่อสารผ่านเสา </a:t>
                      </a:r>
                      <a:r>
                        <a:rPr lang="en-US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HF </a:t>
                      </a: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และ </a:t>
                      </a:r>
                      <a:r>
                        <a:rPr lang="en-US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Microwave </a:t>
                      </a: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ตามแนวชายฝั่ง (</a:t>
                      </a:r>
                      <a:r>
                        <a:rPr lang="en-US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Salerno, Split) </a:t>
                      </a: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ทดแทนการพึ่งพาดาวเทียมเพียงอย่างเดียว</a:t>
                      </a:r>
                      <a:endParaRPr lang="en-US" sz="10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499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6595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EBC2C-FC75-1F3A-3C88-07CB4E46F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C21EE643-06E5-70F5-36A6-BE7B837AA29B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</a:t>
            </a:r>
            <a:endParaRPr lang="en-US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๓ ประเมินความเสี่ยงเบื้องต้น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D8CBE93E-5AEB-59FB-5D85-3BEF53344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397016"/>
              </p:ext>
            </p:extLst>
          </p:nvPr>
        </p:nvGraphicFramePr>
        <p:xfrm>
          <a:off x="152401" y="1424939"/>
          <a:ext cx="11887198" cy="4087876"/>
        </p:xfrm>
        <a:graphic>
          <a:graphicData uri="http://schemas.openxmlformats.org/drawingml/2006/table">
            <a:tbl>
              <a:tblPr firstRow="1" firstCol="1" bandRow="1"/>
              <a:tblGrid>
                <a:gridCol w="4766928">
                  <a:extLst>
                    <a:ext uri="{9D8B030D-6E8A-4147-A177-3AD203B41FA5}">
                      <a16:colId xmlns:a16="http://schemas.microsoft.com/office/drawing/2014/main" val="305719492"/>
                    </a:ext>
                  </a:extLst>
                </a:gridCol>
                <a:gridCol w="800987">
                  <a:extLst>
                    <a:ext uri="{9D8B030D-6E8A-4147-A177-3AD203B41FA5}">
                      <a16:colId xmlns:a16="http://schemas.microsoft.com/office/drawing/2014/main" val="3412928718"/>
                    </a:ext>
                  </a:extLst>
                </a:gridCol>
                <a:gridCol w="839061">
                  <a:extLst>
                    <a:ext uri="{9D8B030D-6E8A-4147-A177-3AD203B41FA5}">
                      <a16:colId xmlns:a16="http://schemas.microsoft.com/office/drawing/2014/main" val="1301998655"/>
                    </a:ext>
                  </a:extLst>
                </a:gridCol>
                <a:gridCol w="3297004">
                  <a:extLst>
                    <a:ext uri="{9D8B030D-6E8A-4147-A177-3AD203B41FA5}">
                      <a16:colId xmlns:a16="http://schemas.microsoft.com/office/drawing/2014/main" val="3536946179"/>
                    </a:ext>
                  </a:extLst>
                </a:gridCol>
                <a:gridCol w="1019688">
                  <a:extLst>
                    <a:ext uri="{9D8B030D-6E8A-4147-A177-3AD203B41FA5}">
                      <a16:colId xmlns:a16="http://schemas.microsoft.com/office/drawing/2014/main" val="1375736046"/>
                    </a:ext>
                  </a:extLst>
                </a:gridCol>
                <a:gridCol w="570129">
                  <a:extLst>
                    <a:ext uri="{9D8B030D-6E8A-4147-A177-3AD203B41FA5}">
                      <a16:colId xmlns:a16="http://schemas.microsoft.com/office/drawing/2014/main" val="3699976893"/>
                    </a:ext>
                  </a:extLst>
                </a:gridCol>
                <a:gridCol w="593401">
                  <a:extLst>
                    <a:ext uri="{9D8B030D-6E8A-4147-A177-3AD203B41FA5}">
                      <a16:colId xmlns:a16="http://schemas.microsoft.com/office/drawing/2014/main" val="1968053261"/>
                    </a:ext>
                  </a:extLst>
                </a:gridCol>
              </a:tblGrid>
              <a:tr h="3023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2000" b="1" kern="100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ความเสี่ยง</a:t>
                      </a:r>
                      <a:endParaRPr lang="en-US" sz="1400" b="1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600" b="1" kern="100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โอกาส</a:t>
                      </a:r>
                      <a:endParaRPr lang="en-US" sz="1100" b="1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600" b="1" kern="10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ความรุนแรง</a:t>
                      </a:r>
                      <a:endParaRPr lang="en-US" sz="1100" b="1" kern="10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600" b="1" kern="100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การบริหารความเสี่ยง</a:t>
                      </a:r>
                      <a:endParaRPr lang="en-US" sz="1100" b="1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600" b="1" kern="100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ความรุนแรงลดลง</a:t>
                      </a:r>
                      <a:endParaRPr lang="en-US" sz="1100" b="1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Risk to force</a:t>
                      </a:r>
                      <a:endParaRPr lang="en-US" sz="1100" b="1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Risk to mission</a:t>
                      </a:r>
                      <a:endParaRPr lang="en-US" sz="1100" b="1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323583"/>
                  </a:ext>
                </a:extLst>
              </a:tr>
              <a:tr h="593862">
                <a:tc>
                  <a:txBody>
                    <a:bodyPr/>
                    <a:lstStyle/>
                    <a:p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ข้าศึกสร้างสถานการณ์เท็จระหว่างการเข้าปะทะ</a:t>
                      </a:r>
                      <a:br>
                        <a:rPr lang="th-TH" b="0" i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</a:b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WL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จัดฉากโจมตีพลเรือนแล้วป้ายสีว่าเป็นฝีมือของปืนใหญ่เรือ 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AZ</a:t>
                      </a:r>
                      <a:endParaRPr lang="th-TH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TH SarabunPSK" panose="020B0500040200020003" pitchFamily="34" charset="-34"/>
                        <a:ea typeface="+mn-ea"/>
                        <a:cs typeface="TH SarabunPSK" panose="020B0500040200020003" pitchFamily="34" charset="-34"/>
                      </a:endParaRPr>
                    </a:p>
                    <a:p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(มิติทางการรับรู้/จิตวิทยา) </a:t>
                      </a: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8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ใข้</a:t>
                      </a:r>
                      <a:r>
                        <a:rPr lang="th-TH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ช่างภาพสนาม </a:t>
                      </a: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: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 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เพื่อบันทึกภาพการปฏิบัติที่อยู่ในกรอบ 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ROE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 (เก็บหลักฐาน)</a:t>
                      </a: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600" u="none" strike="noStrike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 </a:t>
                      </a: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142530"/>
                  </a:ext>
                </a:extLst>
              </a:tr>
              <a:tr h="700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ข่าวลวง 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WL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ปล่อยข่าวว่ากองทัพ 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AZ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จะเข้ามาทิ้งระเบิด ผู้อพยพอาจตื่นตระหนกส่งผลให้กีดขวางเส้นทางส่งกำลังบำรุงหลัก ในพื้นที่ส่วนหลัง</a:t>
                      </a:r>
                      <a:endParaRPr lang="en-US" sz="1800" b="0" i="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ทำ </a:t>
                      </a: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CMO/PSYOP </a:t>
                      </a:r>
                      <a:r>
                        <a:rPr lang="th-TH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ล่วงหน้า: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 ส่ง บ.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C-130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โปรยใบปลิว หรือกระจายเสียงแจ้งจุดปลอดภัย</a:t>
                      </a: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919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ความล้มเหลวในการรักษาความปลอดภัยทางการปฏิบัติการ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กำลังพลถ่ายภาพการระดมพล/โหลดรถถังขึ้นเรือ 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Ro-Ro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ลงโซ</a:t>
                      </a:r>
                      <a:r>
                        <a:rPr lang="th-TH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เชี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ยลมีเดีย ทำให้ข่าวกรองรั่วไหล ข้าศึกจะรู้เวลาและจุดยกพลขึ้นบกล่วงหน้า (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OPSEC)</a:t>
                      </a:r>
                      <a:endParaRPr lang="en-US" sz="1800" b="0" i="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ออกคำสั่ง </a:t>
                      </a:r>
                      <a:r>
                        <a:rPr lang="th-TH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ห้ามใช้สมาร์ทโฟน </a:t>
                      </a: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/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ชุดเฝ้าระวังไซเบอร์ตรวจสอบการหลุดรอดของข้อมูลข่าวสารของกำลังฝ่ายเรา</a:t>
                      </a: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600" u="none" strike="noStrike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 </a:t>
                      </a: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172113"/>
                  </a:ext>
                </a:extLst>
              </a:tr>
              <a:tr h="4938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การโจมตีระบบบัญชาการและเครือข่ายรัฐ 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WL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อาจใช้สงครามไซเบอร์เจาะระบบ 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DEFNET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หรือแฮกเพ</a:t>
                      </a:r>
                      <a:r>
                        <a:rPr lang="th-TH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จข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องโฆษก 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AZ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เพื่อส่งคำสั่งถอยทัพปลอม (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Spoofed Orders)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ทำให้กองกำลังเกิดความสับสน  (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CNO/Cyber Attack)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ในอดีตเคยถูกกระทำมาก่อน</a:t>
                      </a:r>
                      <a:endParaRPr lang="en-US" sz="1800" b="0" i="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ระบบสำรอง: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 เตรียมเครือข่ายสื่อสาร 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HF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และวิทยุ 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Microwave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ชายฝั่งไว้เป็นแผนสำรอง</a:t>
                      </a: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TH SarabunPSK" panose="020B0500040200020003" pitchFamily="34" charset="-34"/>
                        <a:ea typeface="+mn-ea"/>
                        <a:cs typeface="TH SarabunPSK" panose="020B0500040200020003" pitchFamily="34" charset="-34"/>
                      </a:endParaRPr>
                    </a:p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ยืนยันคำสั่งทางยุทธการผ่านช่องทางเข้ารหัสแบบยืนยันตัวตน (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Authentication)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เท่านั้น</a:t>
                      </a:r>
                      <a:endParaRPr lang="en-US" sz="1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023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3985885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3417</Words>
  <Application>Microsoft Office PowerPoint</Application>
  <PresentationFormat>Widescreen</PresentationFormat>
  <Paragraphs>259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TH SarabunPSK</vt:lpstr>
      <vt:lpstr>ธีมของ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KOKO</dc:creator>
  <cp:lastModifiedBy>51.น.ต.พูนศักดิ์ ภาษิต</cp:lastModifiedBy>
  <cp:revision>4</cp:revision>
  <dcterms:created xsi:type="dcterms:W3CDTF">2026-06-11T10:58:52Z</dcterms:created>
  <dcterms:modified xsi:type="dcterms:W3CDTF">2026-06-11T15:43:06Z</dcterms:modified>
</cp:coreProperties>
</file>